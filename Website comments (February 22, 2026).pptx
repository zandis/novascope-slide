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147378820" r:id="rId2"/>
    <p:sldId id="2147378821" r:id="rId3"/>
    <p:sldId id="2147378836" r:id="rId4"/>
    <p:sldId id="2147378841" r:id="rId5"/>
    <p:sldId id="2147378892" r:id="rId6"/>
    <p:sldId id="214737882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E9433-1A34-41B4-A562-85FF5CAB5F95}" v="8" dt="2026-02-22T06:30:33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Liu, CFA CAIA" userId="43d796bb-6e02-417f-b836-f9be14c396fb" providerId="ADAL" clId="{83FB8DA4-DEFC-45CA-8267-BA8959C01A60}"/>
    <pc:docChg chg="undo custSel addSld delSld modSld sldOrd">
      <pc:chgData name="Emily Liu, CFA CAIA" userId="43d796bb-6e02-417f-b836-f9be14c396fb" providerId="ADAL" clId="{83FB8DA4-DEFC-45CA-8267-BA8959C01A60}" dt="2026-02-22T06:30:38.859" v="98" actId="47"/>
      <pc:docMkLst>
        <pc:docMk/>
      </pc:docMkLst>
      <pc:sldChg chg="del">
        <pc:chgData name="Emily Liu, CFA CAIA" userId="43d796bb-6e02-417f-b836-f9be14c396fb" providerId="ADAL" clId="{83FB8DA4-DEFC-45CA-8267-BA8959C01A60}" dt="2026-02-22T06:16:34.822" v="1" actId="47"/>
        <pc:sldMkLst>
          <pc:docMk/>
          <pc:sldMk cId="849777755" sldId="256"/>
        </pc:sldMkLst>
      </pc:sldChg>
      <pc:sldChg chg="delSp modSp add mod">
        <pc:chgData name="Emily Liu, CFA CAIA" userId="43d796bb-6e02-417f-b836-f9be14c396fb" providerId="ADAL" clId="{83FB8DA4-DEFC-45CA-8267-BA8959C01A60}" dt="2026-02-22T06:16:43.087" v="3" actId="1076"/>
        <pc:sldMkLst>
          <pc:docMk/>
          <pc:sldMk cId="3531983209" sldId="2147378820"/>
        </pc:sldMkLst>
        <pc:spChg chg="mod">
          <ac:chgData name="Emily Liu, CFA CAIA" userId="43d796bb-6e02-417f-b836-f9be14c396fb" providerId="ADAL" clId="{83FB8DA4-DEFC-45CA-8267-BA8959C01A60}" dt="2026-02-22T06:16:43.087" v="3" actId="1076"/>
          <ac:spMkLst>
            <pc:docMk/>
            <pc:sldMk cId="3531983209" sldId="2147378820"/>
            <ac:spMk id="4" creationId="{B6EF7E88-D5D0-368A-9468-6BCA453B6D70}"/>
          </ac:spMkLst>
        </pc:spChg>
        <pc:spChg chg="del">
          <ac:chgData name="Emily Liu, CFA CAIA" userId="43d796bb-6e02-417f-b836-f9be14c396fb" providerId="ADAL" clId="{83FB8DA4-DEFC-45CA-8267-BA8959C01A60}" dt="2026-02-22T06:16:39.656" v="2" actId="478"/>
          <ac:spMkLst>
            <pc:docMk/>
            <pc:sldMk cId="3531983209" sldId="2147378820"/>
            <ac:spMk id="60" creationId="{861C42AA-5F65-9DDE-DCAE-6B79A78EEFBD}"/>
          </ac:spMkLst>
        </pc:spChg>
      </pc:sldChg>
      <pc:sldChg chg="addSp delSp modSp new mod setBg">
        <pc:chgData name="Emily Liu, CFA CAIA" userId="43d796bb-6e02-417f-b836-f9be14c396fb" providerId="ADAL" clId="{83FB8DA4-DEFC-45CA-8267-BA8959C01A60}" dt="2026-02-22T06:18:20.896" v="8" actId="26606"/>
        <pc:sldMkLst>
          <pc:docMk/>
          <pc:sldMk cId="3748718096" sldId="2147378821"/>
        </pc:sldMkLst>
        <pc:spChg chg="add del">
          <ac:chgData name="Emily Liu, CFA CAIA" userId="43d796bb-6e02-417f-b836-f9be14c396fb" providerId="ADAL" clId="{83FB8DA4-DEFC-45CA-8267-BA8959C01A60}" dt="2026-02-22T06:18:20.894" v="7" actId="26606"/>
          <ac:spMkLst>
            <pc:docMk/>
            <pc:sldMk cId="3748718096" sldId="2147378821"/>
            <ac:spMk id="7" creationId="{42A4FC2C-047E-45A5-965D-8E1E3BF09BC6}"/>
          </ac:spMkLst>
        </pc:spChg>
        <pc:picChg chg="add mod">
          <ac:chgData name="Emily Liu, CFA CAIA" userId="43d796bb-6e02-417f-b836-f9be14c396fb" providerId="ADAL" clId="{83FB8DA4-DEFC-45CA-8267-BA8959C01A60}" dt="2026-02-22T06:18:20.896" v="8" actId="26606"/>
          <ac:picMkLst>
            <pc:docMk/>
            <pc:sldMk cId="3748718096" sldId="2147378821"/>
            <ac:picMk id="2" creationId="{3948CA12-02F3-BCAD-9EE7-F5A310538777}"/>
          </ac:picMkLst>
        </pc:picChg>
      </pc:sldChg>
      <pc:sldChg chg="addSp modSp new mod ord">
        <pc:chgData name="Emily Liu, CFA CAIA" userId="43d796bb-6e02-417f-b836-f9be14c396fb" providerId="ADAL" clId="{83FB8DA4-DEFC-45CA-8267-BA8959C01A60}" dt="2026-02-22T06:22:43.736" v="92" actId="1076"/>
        <pc:sldMkLst>
          <pc:docMk/>
          <pc:sldMk cId="1045206693" sldId="2147378822"/>
        </pc:sldMkLst>
        <pc:spChg chg="add mod">
          <ac:chgData name="Emily Liu, CFA CAIA" userId="43d796bb-6e02-417f-b836-f9be14c396fb" providerId="ADAL" clId="{83FB8DA4-DEFC-45CA-8267-BA8959C01A60}" dt="2026-02-22T06:21:50.504" v="90" actId="14100"/>
          <ac:spMkLst>
            <pc:docMk/>
            <pc:sldMk cId="1045206693" sldId="2147378822"/>
            <ac:spMk id="2" creationId="{A6FE2B86-8203-38C2-FAF8-C9370243CF06}"/>
          </ac:spMkLst>
        </pc:spChg>
        <pc:picChg chg="add mod">
          <ac:chgData name="Emily Liu, CFA CAIA" userId="43d796bb-6e02-417f-b836-f9be14c396fb" providerId="ADAL" clId="{83FB8DA4-DEFC-45CA-8267-BA8959C01A60}" dt="2026-02-22T06:22:43.736" v="92" actId="1076"/>
          <ac:picMkLst>
            <pc:docMk/>
            <pc:sldMk cId="1045206693" sldId="2147378822"/>
            <ac:picMk id="3" creationId="{1F203967-7582-00C2-D004-4872E5CA16BC}"/>
          </ac:picMkLst>
        </pc:picChg>
      </pc:sldChg>
      <pc:sldChg chg="add">
        <pc:chgData name="Emily Liu, CFA CAIA" userId="43d796bb-6e02-417f-b836-f9be14c396fb" providerId="ADAL" clId="{83FB8DA4-DEFC-45CA-8267-BA8959C01A60}" dt="2026-02-22T06:21:18.089" v="10"/>
        <pc:sldMkLst>
          <pc:docMk/>
          <pc:sldMk cId="389770733" sldId="2147378836"/>
        </pc:sldMkLst>
      </pc:sldChg>
      <pc:sldChg chg="new del">
        <pc:chgData name="Emily Liu, CFA CAIA" userId="43d796bb-6e02-417f-b836-f9be14c396fb" providerId="ADAL" clId="{83FB8DA4-DEFC-45CA-8267-BA8959C01A60}" dt="2026-02-22T06:30:38.859" v="98" actId="47"/>
        <pc:sldMkLst>
          <pc:docMk/>
          <pc:sldMk cId="3449219369" sldId="2147378837"/>
        </pc:sldMkLst>
      </pc:sldChg>
      <pc:sldChg chg="add ord">
        <pc:chgData name="Emily Liu, CFA CAIA" userId="43d796bb-6e02-417f-b836-f9be14c396fb" providerId="ADAL" clId="{83FB8DA4-DEFC-45CA-8267-BA8959C01A60}" dt="2026-02-22T06:28:30.047" v="96"/>
        <pc:sldMkLst>
          <pc:docMk/>
          <pc:sldMk cId="2735845795" sldId="2147378841"/>
        </pc:sldMkLst>
      </pc:sldChg>
      <pc:sldChg chg="add">
        <pc:chgData name="Emily Liu, CFA CAIA" userId="43d796bb-6e02-417f-b836-f9be14c396fb" providerId="ADAL" clId="{83FB8DA4-DEFC-45CA-8267-BA8959C01A60}" dt="2026-02-22T06:30:33.177" v="97"/>
        <pc:sldMkLst>
          <pc:docMk/>
          <pc:sldMk cId="247099782" sldId="21473788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61555-C052-43D7-B67E-BF2C8287935A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4EADE-0D6E-44C2-8AFA-291AEBC08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81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DE9B-3310-D854-64A4-1B4DCA6CB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84B109-DCAB-A1EA-02B0-5E2E1B5CA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DEA7759-2566-EC2E-E18E-1704614CD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DF1B22-D77B-6E6D-2485-6FF237DBF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806F7-8452-49F7-A36A-74DA4D46281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424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FB40-CEB9-98D5-76ED-F5BD09967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A8B5E-989A-3F0D-3904-4E9BC95A3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07B8B-2F38-9AED-C4B4-6A1E952C3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C92EA-507F-3AC6-0CEB-6EE70E19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07DDA-833D-9C74-3A5E-9CF548D20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07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5E2D-49E0-2770-A034-7D588F23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E054B-0802-186F-62FE-6FF97D22C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9DACB-21BD-9B99-C30F-00C12063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6ED6B-24C4-51DD-3B71-C292AA72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98E5D-0F48-639B-DCB8-B7FF1AC5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91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C2A-0DB1-E63C-857A-78AF71045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C0413-5583-07B3-3239-C72444D9A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EB4A6-4EEE-C291-0701-76CD595C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7D05B-A7B1-3C56-E7C6-2E535AB46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CB674-9209-8811-42A5-4AF1CAB6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53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83A5-EF41-4D90-C7DF-1241EA39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B2312-3315-5FDA-07AB-278CF4DF6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980BA-C199-C48E-90D0-3686832BA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9F2CB-3940-E9A4-0741-E5A32F0EA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C3B46-DB7D-7AD2-1E64-373B8C4C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2D5CF-0B33-28F2-C49F-4E998610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57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BAEE-B885-1DCD-5DF0-0B9EE7C3B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D4AE9-442A-EB61-F8E7-AF58ADF12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F642C-73E4-FC42-18DF-8AEA4F2B3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6F1D-EC5C-A381-7C8B-54FD7FCDF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E974A-F45B-8D1B-8C17-7BB862224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866078-7C4E-D2C4-639B-6CC1EDD4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5F67A4-F7E9-AB4D-E661-96C70395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7648E0-E602-26C4-8B13-B95796E2D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02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1266-EB0A-F5A5-4FE9-1F1D059D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6276D-2961-9F52-887E-DD8FFDDE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0ECB5-7E58-EC42-354C-BADE5C11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48D67-9617-A897-D130-86874E9D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932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3FC65-F6F8-D440-7192-CCAFAE7D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B8633-B1F0-F80C-F356-A4B8F467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6563F-E84F-35F8-F38E-04BDCF16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04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EE20-E45E-7DB1-9C34-95974788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5A0F2-ADB8-F4CF-18A5-D34CD218B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9F8F6-066B-670A-1352-2A02C154A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E0939-72F4-C1CA-45F6-FCD8DBF7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C9578-7361-3351-6D37-22964A8D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16B63-6E27-B904-6D6A-7BA52428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856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0EC5-A8BE-4DE4-2C1C-7B65E54AE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4FD01-488E-6F9A-89E6-9195323C9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E0117-5CCF-33E2-16B0-B799FD05F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2B940-D48A-0E51-DD0B-ADB9EF7C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01FEF-8550-A46B-EABC-F754611A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31F39-1245-E9BD-2363-C9AB6082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653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8D23-00B6-01B3-21E3-68C70F91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E8BC3-6432-5569-C12F-7FA8D5651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FCB3-8994-A3B7-2E4B-928D0655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51EBB-C54B-7D01-01B7-78CE0220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90B4E-E364-89D9-DB72-C343A0C9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378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18BA3-C665-C7EA-2855-B21B17ED7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E11C-57A7-C2B2-55F5-2FDDEF1F0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905A1-0655-DBF7-139D-D8FE8E0D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BE96F-F28E-E81E-D106-8B96660E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4A8B1-5B2B-2F71-3518-6E65C2DE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476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A5627-4AAA-56EB-F50C-81639484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733"/>
          </a:xfrm>
        </p:spPr>
        <p:txBody>
          <a:bodyPr>
            <a:normAutofit/>
          </a:bodyPr>
          <a:lstStyle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F1E700-CD51-09EB-0AD2-B7D2686D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BB093-5E14-41F5-8229-FDB09DB3E90B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576E08-3548-0B50-5AB4-5E96524F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62B91E-DB20-FBAE-45E5-40C70CB9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3467-129C-4621-BF7F-6488C53754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265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投影片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30E148-869F-9244-A927-18074F4EE3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016" y="459580"/>
            <a:ext cx="10080000" cy="507206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1" i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</a:defRPr>
            </a:lvl1pPr>
          </a:lstStyle>
          <a:p>
            <a:r>
              <a:rPr kumimoji="1" lang="en-US" altLang="zh-TW" dirty="0"/>
              <a:t>Title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7D05F6C-FD19-2EB1-23B0-6633C1657104}"/>
              </a:ext>
            </a:extLst>
          </p:cNvPr>
          <p:cNvSpPr txBox="1"/>
          <p:nvPr userDrawn="1"/>
        </p:nvSpPr>
        <p:spPr>
          <a:xfrm>
            <a:off x="11353117" y="6336000"/>
            <a:ext cx="53272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BEC394F-67A0-406F-805F-209DF23704DE}" type="slidenum">
              <a:rPr lang="zh-TW" altLang="en-US" sz="1600" smtClean="0">
                <a:latin typeface="+mn-lt"/>
              </a:rPr>
              <a:pPr algn="r"/>
              <a:t>‹#›</a:t>
            </a:fld>
            <a:endParaRPr lang="zh-TW" alt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616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B6955-A908-9136-1DF0-BE36A691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5BD8A-1D6E-9D16-488C-5A997F57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02278-B8B9-C34D-4546-29BED094D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FA3F7-5CFD-4EB8-B8C6-40C12D8FB4C1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F51B-CFD4-F21C-DE5F-C4247B0DA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6A10-CFD3-6624-1B39-0D0D0BFAA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AFE48-B794-4C03-9662-D2A00852A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15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em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6EF7E88-D5D0-368A-9468-6BCA453B6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03" y="225057"/>
            <a:ext cx="11697133" cy="389455"/>
          </a:xfrm>
        </p:spPr>
        <p:txBody>
          <a:bodyPr>
            <a:noAutofit/>
          </a:bodyPr>
          <a:lstStyle/>
          <a:p>
            <a:r>
              <a:rPr lang="en-US" altLang="zh-TW" sz="2800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TW" sz="2800" dirty="0">
                <a:solidFill>
                  <a:srgbClr val="FFC000"/>
                </a:solidFill>
                <a:ea typeface="Microsoft JhengHei"/>
              </a:rPr>
              <a:t>O</a:t>
            </a:r>
            <a:r>
              <a:rPr lang="en-US" altLang="zh-TW" sz="2800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VASCOPE End-To-End Solutions: Where Biochemistry Meets Semiconductors </a:t>
            </a:r>
            <a:endParaRPr kumimoji="1"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群組 86">
            <a:extLst>
              <a:ext uri="{FF2B5EF4-FFF2-40B4-BE49-F238E27FC236}">
                <a16:creationId xmlns:a16="http://schemas.microsoft.com/office/drawing/2014/main" id="{536403D2-C88D-B6AF-F8E7-C636E35E2D76}"/>
              </a:ext>
            </a:extLst>
          </p:cNvPr>
          <p:cNvGrpSpPr/>
          <p:nvPr/>
        </p:nvGrpSpPr>
        <p:grpSpPr>
          <a:xfrm>
            <a:off x="795082" y="960930"/>
            <a:ext cx="11116825" cy="5399052"/>
            <a:chOff x="1165010" y="1050583"/>
            <a:chExt cx="11116825" cy="5399052"/>
          </a:xfrm>
        </p:grpSpPr>
        <p:sp>
          <p:nvSpPr>
            <p:cNvPr id="6" name="圓角矩形 39">
              <a:extLst>
                <a:ext uri="{FF2B5EF4-FFF2-40B4-BE49-F238E27FC236}">
                  <a16:creationId xmlns:a16="http://schemas.microsoft.com/office/drawing/2014/main" id="{209AD59B-57CD-5693-A719-37D53A6A45E8}"/>
                </a:ext>
              </a:extLst>
            </p:cNvPr>
            <p:cNvSpPr/>
            <p:nvPr/>
          </p:nvSpPr>
          <p:spPr>
            <a:xfrm>
              <a:off x="4489768" y="1078942"/>
              <a:ext cx="2932221" cy="5357808"/>
            </a:xfrm>
            <a:prstGeom prst="roundRect">
              <a:avLst>
                <a:gd name="adj" fmla="val 5271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向下箭號 2">
              <a:extLst>
                <a:ext uri="{FF2B5EF4-FFF2-40B4-BE49-F238E27FC236}">
                  <a16:creationId xmlns:a16="http://schemas.microsoft.com/office/drawing/2014/main" id="{7C088B8B-4635-1AE1-3D3C-6040EBA2E5DA}"/>
                </a:ext>
              </a:extLst>
            </p:cNvPr>
            <p:cNvSpPr/>
            <p:nvPr/>
          </p:nvSpPr>
          <p:spPr>
            <a:xfrm>
              <a:off x="5487649" y="1512934"/>
              <a:ext cx="755965" cy="4099984"/>
            </a:xfrm>
            <a:prstGeom prst="downArrow">
              <a:avLst>
                <a:gd name="adj1" fmla="val 50000"/>
                <a:gd name="adj2" fmla="val 34417"/>
              </a:avLst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AD6A2D4F-B711-AC70-081F-D28D5F9D88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4573" y="1265294"/>
              <a:ext cx="584022" cy="956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9" name="群組 45">
              <a:extLst>
                <a:ext uri="{FF2B5EF4-FFF2-40B4-BE49-F238E27FC236}">
                  <a16:creationId xmlns:a16="http://schemas.microsoft.com/office/drawing/2014/main" id="{7577BE71-67CB-B939-AFAD-0DA41CF9B1F7}"/>
                </a:ext>
              </a:extLst>
            </p:cNvPr>
            <p:cNvGrpSpPr/>
            <p:nvPr/>
          </p:nvGrpSpPr>
          <p:grpSpPr>
            <a:xfrm>
              <a:off x="5298721" y="4456030"/>
              <a:ext cx="1051895" cy="763187"/>
              <a:chOff x="-2365554" y="3348959"/>
              <a:chExt cx="1152128" cy="852310"/>
            </a:xfrm>
          </p:grpSpPr>
          <p:sp>
            <p:nvSpPr>
              <p:cNvPr id="53" name="立方體 46">
                <a:extLst>
                  <a:ext uri="{FF2B5EF4-FFF2-40B4-BE49-F238E27FC236}">
                    <a16:creationId xmlns:a16="http://schemas.microsoft.com/office/drawing/2014/main" id="{318239DB-A218-5CF4-CCA6-49C7207099AE}"/>
                  </a:ext>
                </a:extLst>
              </p:cNvPr>
              <p:cNvSpPr/>
              <p:nvPr/>
            </p:nvSpPr>
            <p:spPr>
              <a:xfrm>
                <a:off x="-2365554" y="3348959"/>
                <a:ext cx="1152128" cy="852310"/>
              </a:xfrm>
              <a:prstGeom prst="cube">
                <a:avLst>
                  <a:gd name="adj" fmla="val 81072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ea typeface="微軟正黑體 Light" panose="020B0304030504040204" pitchFamily="34" charset="-120"/>
                </a:endParaRPr>
              </a:p>
            </p:txBody>
          </p:sp>
          <p:sp>
            <p:nvSpPr>
              <p:cNvPr id="54" name="立方體 47">
                <a:extLst>
                  <a:ext uri="{FF2B5EF4-FFF2-40B4-BE49-F238E27FC236}">
                    <a16:creationId xmlns:a16="http://schemas.microsoft.com/office/drawing/2014/main" id="{50388BA3-3BDC-697F-CEC7-5430F673779B}"/>
                  </a:ext>
                </a:extLst>
              </p:cNvPr>
              <p:cNvSpPr/>
              <p:nvPr/>
            </p:nvSpPr>
            <p:spPr>
              <a:xfrm>
                <a:off x="-1945150" y="3441303"/>
                <a:ext cx="576065" cy="286477"/>
              </a:xfrm>
              <a:prstGeom prst="cube">
                <a:avLst>
                  <a:gd name="adj" fmla="val 8107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ea typeface="微軟正黑體 Light" panose="020B0304030504040204" pitchFamily="34" charset="-120"/>
                </a:endParaRPr>
              </a:p>
            </p:txBody>
          </p:sp>
          <p:sp>
            <p:nvSpPr>
              <p:cNvPr id="55" name="立方體 48">
                <a:extLst>
                  <a:ext uri="{FF2B5EF4-FFF2-40B4-BE49-F238E27FC236}">
                    <a16:creationId xmlns:a16="http://schemas.microsoft.com/office/drawing/2014/main" id="{48A1B1DA-0820-8968-987F-BB629C0F1F78}"/>
                  </a:ext>
                </a:extLst>
              </p:cNvPr>
              <p:cNvSpPr/>
              <p:nvPr/>
            </p:nvSpPr>
            <p:spPr>
              <a:xfrm>
                <a:off x="-2052736" y="3933056"/>
                <a:ext cx="360000" cy="163116"/>
              </a:xfrm>
              <a:prstGeom prst="cube">
                <a:avLst>
                  <a:gd name="adj" fmla="val 81072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ea typeface="微軟正黑體 Light" panose="020B0304030504040204" pitchFamily="34" charset="-120"/>
                </a:endParaRPr>
              </a:p>
            </p:txBody>
          </p:sp>
        </p:grpSp>
        <p:grpSp>
          <p:nvGrpSpPr>
            <p:cNvPr id="10" name="群組 49">
              <a:extLst>
                <a:ext uri="{FF2B5EF4-FFF2-40B4-BE49-F238E27FC236}">
                  <a16:creationId xmlns:a16="http://schemas.microsoft.com/office/drawing/2014/main" id="{A9E908EB-3B4A-43CB-B1DC-2F820CF5C872}"/>
                </a:ext>
              </a:extLst>
            </p:cNvPr>
            <p:cNvGrpSpPr/>
            <p:nvPr/>
          </p:nvGrpSpPr>
          <p:grpSpPr>
            <a:xfrm>
              <a:off x="4928181" y="3084927"/>
              <a:ext cx="2183249" cy="876529"/>
              <a:chOff x="6656939" y="2496371"/>
              <a:chExt cx="2113405" cy="855097"/>
            </a:xfrm>
          </p:grpSpPr>
          <p:sp>
            <p:nvSpPr>
              <p:cNvPr id="47" name="矩形 50">
                <a:extLst>
                  <a:ext uri="{FF2B5EF4-FFF2-40B4-BE49-F238E27FC236}">
                    <a16:creationId xmlns:a16="http://schemas.microsoft.com/office/drawing/2014/main" id="{ECBBEFDE-0598-4677-5C57-FB713DE37C54}"/>
                  </a:ext>
                </a:extLst>
              </p:cNvPr>
              <p:cNvSpPr/>
              <p:nvPr/>
            </p:nvSpPr>
            <p:spPr bwMode="auto">
              <a:xfrm>
                <a:off x="6656941" y="2524886"/>
                <a:ext cx="2113403" cy="288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矩形 51">
                <a:extLst>
                  <a:ext uri="{FF2B5EF4-FFF2-40B4-BE49-F238E27FC236}">
                    <a16:creationId xmlns:a16="http://schemas.microsoft.com/office/drawing/2014/main" id="{990628D8-ED25-F149-1398-3C46C9E98103}"/>
                  </a:ext>
                </a:extLst>
              </p:cNvPr>
              <p:cNvSpPr/>
              <p:nvPr/>
            </p:nvSpPr>
            <p:spPr bwMode="auto">
              <a:xfrm>
                <a:off x="6656939" y="2813960"/>
                <a:ext cx="2113404" cy="537508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矩形 52">
                <a:extLst>
                  <a:ext uri="{FF2B5EF4-FFF2-40B4-BE49-F238E27FC236}">
                    <a16:creationId xmlns:a16="http://schemas.microsoft.com/office/drawing/2014/main" id="{1331A048-0351-C1C1-4722-5E68AA92D75B}"/>
                  </a:ext>
                </a:extLst>
              </p:cNvPr>
              <p:cNvSpPr/>
              <p:nvPr/>
            </p:nvSpPr>
            <p:spPr bwMode="auto">
              <a:xfrm>
                <a:off x="7416862" y="2807015"/>
                <a:ext cx="617007" cy="12864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 53">
                <a:extLst>
                  <a:ext uri="{FF2B5EF4-FFF2-40B4-BE49-F238E27FC236}">
                    <a16:creationId xmlns:a16="http://schemas.microsoft.com/office/drawing/2014/main" id="{31CB9B71-FF42-3FD5-F431-EE6A4D7A7B76}"/>
                  </a:ext>
                </a:extLst>
              </p:cNvPr>
              <p:cNvSpPr/>
              <p:nvPr/>
            </p:nvSpPr>
            <p:spPr bwMode="auto">
              <a:xfrm>
                <a:off x="6993632" y="2839934"/>
                <a:ext cx="411173" cy="421487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/>
              </a:p>
            </p:txBody>
          </p:sp>
          <p:sp>
            <p:nvSpPr>
              <p:cNvPr id="51" name="矩形 54">
                <a:extLst>
                  <a:ext uri="{FF2B5EF4-FFF2-40B4-BE49-F238E27FC236}">
                    <a16:creationId xmlns:a16="http://schemas.microsoft.com/office/drawing/2014/main" id="{B8545825-D814-E100-4163-FB515679D862}"/>
                  </a:ext>
                </a:extLst>
              </p:cNvPr>
              <p:cNvSpPr/>
              <p:nvPr/>
            </p:nvSpPr>
            <p:spPr bwMode="auto">
              <a:xfrm>
                <a:off x="8023096" y="2818189"/>
                <a:ext cx="435054" cy="44323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/>
              </a:p>
            </p:txBody>
          </p:sp>
          <p:sp>
            <p:nvSpPr>
              <p:cNvPr id="52" name="手繪多邊形 46">
                <a:extLst>
                  <a:ext uri="{FF2B5EF4-FFF2-40B4-BE49-F238E27FC236}">
                    <a16:creationId xmlns:a16="http://schemas.microsoft.com/office/drawing/2014/main" id="{078F259D-A6F1-7BF6-E38E-BECC0D38895A}"/>
                  </a:ext>
                </a:extLst>
              </p:cNvPr>
              <p:cNvSpPr/>
              <p:nvPr/>
            </p:nvSpPr>
            <p:spPr bwMode="auto">
              <a:xfrm>
                <a:off x="6656939" y="2496371"/>
                <a:ext cx="2113404" cy="282569"/>
              </a:xfrm>
              <a:custGeom>
                <a:avLst/>
                <a:gdLst>
                  <a:gd name="connsiteX0" fmla="*/ 0 w 2095706"/>
                  <a:gd name="connsiteY0" fmla="*/ 0 h 296562"/>
                  <a:gd name="connsiteX1" fmla="*/ 306447 w 2095706"/>
                  <a:gd name="connsiteY1" fmla="*/ 0 h 296562"/>
                  <a:gd name="connsiteX2" fmla="*/ 603009 w 2095706"/>
                  <a:gd name="connsiteY2" fmla="*/ 296562 h 296562"/>
                  <a:gd name="connsiteX3" fmla="*/ 1492696 w 2095706"/>
                  <a:gd name="connsiteY3" fmla="*/ 296562 h 296562"/>
                  <a:gd name="connsiteX4" fmla="*/ 1759602 w 2095706"/>
                  <a:gd name="connsiteY4" fmla="*/ 29656 h 296562"/>
                  <a:gd name="connsiteX5" fmla="*/ 2095706 w 2095706"/>
                  <a:gd name="connsiteY5" fmla="*/ 29656 h 296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706" h="296562">
                    <a:moveTo>
                      <a:pt x="0" y="0"/>
                    </a:moveTo>
                    <a:lnTo>
                      <a:pt x="306447" y="0"/>
                    </a:lnTo>
                    <a:lnTo>
                      <a:pt x="603009" y="296562"/>
                    </a:lnTo>
                    <a:lnTo>
                      <a:pt x="1492696" y="296562"/>
                    </a:lnTo>
                    <a:lnTo>
                      <a:pt x="1759602" y="29656"/>
                    </a:lnTo>
                    <a:lnTo>
                      <a:pt x="2095706" y="29656"/>
                    </a:lnTo>
                  </a:path>
                </a:pathLst>
              </a:custGeom>
              <a:solidFill>
                <a:srgbClr val="F1FFFF"/>
              </a:solidFill>
              <a:ln w="101600">
                <a:solidFill>
                  <a:srgbClr val="FF5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" name="群組 56">
              <a:extLst>
                <a:ext uri="{FF2B5EF4-FFF2-40B4-BE49-F238E27FC236}">
                  <a16:creationId xmlns:a16="http://schemas.microsoft.com/office/drawing/2014/main" id="{8A79CD7E-3FF2-1F54-1442-74B7D205C22F}"/>
                </a:ext>
              </a:extLst>
            </p:cNvPr>
            <p:cNvGrpSpPr/>
            <p:nvPr/>
          </p:nvGrpSpPr>
          <p:grpSpPr>
            <a:xfrm>
              <a:off x="5862557" y="2241914"/>
              <a:ext cx="349052" cy="627739"/>
              <a:chOff x="4036662" y="2449954"/>
              <a:chExt cx="382313" cy="701045"/>
            </a:xfrm>
          </p:grpSpPr>
          <p:grpSp>
            <p:nvGrpSpPr>
              <p:cNvPr id="43" name="群組 57">
                <a:extLst>
                  <a:ext uri="{FF2B5EF4-FFF2-40B4-BE49-F238E27FC236}">
                    <a16:creationId xmlns:a16="http://schemas.microsoft.com/office/drawing/2014/main" id="{75082A51-D3AB-8F92-4A56-968DF2E5397E}"/>
                  </a:ext>
                </a:extLst>
              </p:cNvPr>
              <p:cNvGrpSpPr/>
              <p:nvPr/>
            </p:nvGrpSpPr>
            <p:grpSpPr>
              <a:xfrm>
                <a:off x="4036662" y="2449954"/>
                <a:ext cx="382313" cy="539692"/>
                <a:chOff x="3799556" y="1073248"/>
                <a:chExt cx="303045" cy="537999"/>
              </a:xfrm>
            </p:grpSpPr>
            <p:cxnSp>
              <p:nvCxnSpPr>
                <p:cNvPr id="45" name="直線接點 59">
                  <a:extLst>
                    <a:ext uri="{FF2B5EF4-FFF2-40B4-BE49-F238E27FC236}">
                      <a16:creationId xmlns:a16="http://schemas.microsoft.com/office/drawing/2014/main" id="{047014DE-B94A-881D-C630-B989DBEF5059}"/>
                    </a:ext>
                  </a:extLst>
                </p:cNvPr>
                <p:cNvCxnSpPr/>
                <p:nvPr/>
              </p:nvCxnSpPr>
              <p:spPr>
                <a:xfrm>
                  <a:off x="3969062" y="1334557"/>
                  <a:ext cx="0" cy="276690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headEnd type="none"/>
                  <a:tailEnd type="non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圓形圖 20">
                  <a:extLst>
                    <a:ext uri="{FF2B5EF4-FFF2-40B4-BE49-F238E27FC236}">
                      <a16:creationId xmlns:a16="http://schemas.microsoft.com/office/drawing/2014/main" id="{BB35BE33-309C-57FF-E0A2-62B45F3460D4}"/>
                    </a:ext>
                  </a:extLst>
                </p:cNvPr>
                <p:cNvSpPr/>
                <p:nvPr/>
              </p:nvSpPr>
              <p:spPr bwMode="auto">
                <a:xfrm rot="19496728">
                  <a:off x="3799556" y="1073248"/>
                  <a:ext cx="303045" cy="387632"/>
                </a:xfrm>
                <a:prstGeom prst="pie">
                  <a:avLst/>
                </a:prstGeom>
                <a:solidFill>
                  <a:srgbClr val="FF643F"/>
                </a:solidFill>
                <a:ln>
                  <a:solidFill>
                    <a:srgbClr val="FF3300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44" name="橢圓 58">
                <a:extLst>
                  <a:ext uri="{FF2B5EF4-FFF2-40B4-BE49-F238E27FC236}">
                    <a16:creationId xmlns:a16="http://schemas.microsoft.com/office/drawing/2014/main" id="{FC49A7C6-C97C-864C-5DE4-4B9E93E011C1}"/>
                  </a:ext>
                </a:extLst>
              </p:cNvPr>
              <p:cNvSpPr/>
              <p:nvPr/>
            </p:nvSpPr>
            <p:spPr bwMode="auto">
              <a:xfrm>
                <a:off x="4118301" y="2997678"/>
                <a:ext cx="277443" cy="153321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12" name="Picture 2" descr="Data, database, storage icon - Download on Iconfinder">
              <a:extLst>
                <a:ext uri="{FF2B5EF4-FFF2-40B4-BE49-F238E27FC236}">
                  <a16:creationId xmlns:a16="http://schemas.microsoft.com/office/drawing/2014/main" id="{93A8C091-9F22-ABEB-53DB-62D916731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4578" y="5612883"/>
              <a:ext cx="785366" cy="7702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向下箭號 2">
              <a:extLst>
                <a:ext uri="{FF2B5EF4-FFF2-40B4-BE49-F238E27FC236}">
                  <a16:creationId xmlns:a16="http://schemas.microsoft.com/office/drawing/2014/main" id="{B6E781C8-2853-ADBA-A0AF-09B6BA81B218}"/>
                </a:ext>
              </a:extLst>
            </p:cNvPr>
            <p:cNvSpPr/>
            <p:nvPr/>
          </p:nvSpPr>
          <p:spPr>
            <a:xfrm>
              <a:off x="5726833" y="1757709"/>
              <a:ext cx="755965" cy="4099984"/>
            </a:xfrm>
            <a:prstGeom prst="downArrow">
              <a:avLst>
                <a:gd name="adj1" fmla="val 50000"/>
                <a:gd name="adj2" fmla="val 34417"/>
              </a:avLst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42">
              <a:extLst>
                <a:ext uri="{FF2B5EF4-FFF2-40B4-BE49-F238E27FC236}">
                  <a16:creationId xmlns:a16="http://schemas.microsoft.com/office/drawing/2014/main" id="{16517AFC-515E-F2B8-8734-934906FFB2F4}"/>
                </a:ext>
              </a:extLst>
            </p:cNvPr>
            <p:cNvSpPr txBox="1"/>
            <p:nvPr/>
          </p:nvSpPr>
          <p:spPr>
            <a:xfrm>
              <a:off x="5540243" y="3565454"/>
              <a:ext cx="1974559" cy="384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600"/>
                </a:spcAft>
              </a:pPr>
              <a:r>
                <a:rPr lang="en-US" altLang="zh-TW" b="1" dirty="0">
                  <a:solidFill>
                    <a:schemeClr val="tx2"/>
                  </a:solidFill>
                  <a:ea typeface="標楷體" panose="03000509000000000000" pitchFamily="65" charset="-120"/>
                </a:rPr>
                <a:t>EG- FET</a:t>
              </a:r>
              <a:endParaRPr lang="zh-TW" altLang="en-US" b="1" dirty="0">
                <a:solidFill>
                  <a:schemeClr val="tx2"/>
                </a:solidFill>
                <a:ea typeface="標楷體" panose="03000509000000000000" pitchFamily="65" charset="-120"/>
              </a:endParaRPr>
            </a:p>
          </p:txBody>
        </p:sp>
        <p:pic>
          <p:nvPicPr>
            <p:cNvPr id="15" name="圖片 5" descr="一張含有 紅色, Rectangle, 設計 的圖片&#10;&#10;AI 產生的內容可能不正確。">
              <a:extLst>
                <a:ext uri="{FF2B5EF4-FFF2-40B4-BE49-F238E27FC236}">
                  <a16:creationId xmlns:a16="http://schemas.microsoft.com/office/drawing/2014/main" id="{CB31549A-A2B4-B952-5995-9BC3B5C7A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306" y="1561776"/>
              <a:ext cx="1136322" cy="1080340"/>
            </a:xfrm>
            <a:prstGeom prst="rect">
              <a:avLst/>
            </a:prstGeom>
          </p:spPr>
        </p:pic>
        <p:pic>
          <p:nvPicPr>
            <p:cNvPr id="16" name="圖片 7" descr="一張含有 符號, 柳橙, 圖形, 字型 的圖片&#10;&#10;AI 產生的內容可能不正確。">
              <a:extLst>
                <a:ext uri="{FF2B5EF4-FFF2-40B4-BE49-F238E27FC236}">
                  <a16:creationId xmlns:a16="http://schemas.microsoft.com/office/drawing/2014/main" id="{6030C0F8-ABFC-007C-3E60-00C821370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6008" y="3214894"/>
              <a:ext cx="1147917" cy="1091712"/>
            </a:xfrm>
            <a:prstGeom prst="rect">
              <a:avLst/>
            </a:prstGeom>
          </p:spPr>
        </p:pic>
        <p:pic>
          <p:nvPicPr>
            <p:cNvPr id="17" name="圖片 9" descr="一張含有 標誌, 符號, 圖形, 字型 的圖片&#10;&#10;AI 產生的內容可能不正確。">
              <a:extLst>
                <a:ext uri="{FF2B5EF4-FFF2-40B4-BE49-F238E27FC236}">
                  <a16:creationId xmlns:a16="http://schemas.microsoft.com/office/drawing/2014/main" id="{AE73F13F-4016-B409-90F3-7903E5006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4148" y="5335179"/>
              <a:ext cx="1159512" cy="1114456"/>
            </a:xfrm>
            <a:prstGeom prst="rect">
              <a:avLst/>
            </a:prstGeom>
          </p:spPr>
        </p:pic>
        <p:pic>
          <p:nvPicPr>
            <p:cNvPr id="18" name="圖片 11" descr="一張含有 符號, 標誌, 圖形, 設計 的圖片&#10;&#10;AI 產生的內容可能不正確。">
              <a:extLst>
                <a:ext uri="{FF2B5EF4-FFF2-40B4-BE49-F238E27FC236}">
                  <a16:creationId xmlns:a16="http://schemas.microsoft.com/office/drawing/2014/main" id="{A0DAAAF1-8078-B9E6-D70D-C2DF94640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9360" y="1613275"/>
              <a:ext cx="1182702" cy="1103084"/>
            </a:xfrm>
            <a:prstGeom prst="rect">
              <a:avLst/>
            </a:prstGeom>
          </p:spPr>
        </p:pic>
        <p:pic>
          <p:nvPicPr>
            <p:cNvPr id="19" name="圖片 13" descr="一張含有 設計, Rectangle 的圖片&#10;&#10;AI 產生的內容可能不正確。">
              <a:extLst>
                <a:ext uri="{FF2B5EF4-FFF2-40B4-BE49-F238E27FC236}">
                  <a16:creationId xmlns:a16="http://schemas.microsoft.com/office/drawing/2014/main" id="{CFD354F8-81E8-61AD-5D68-B2603EBFB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7901" y="3031465"/>
              <a:ext cx="1147917" cy="1125828"/>
            </a:xfrm>
            <a:prstGeom prst="rect">
              <a:avLst/>
            </a:prstGeom>
          </p:spPr>
        </p:pic>
        <p:pic>
          <p:nvPicPr>
            <p:cNvPr id="20" name="圖片 15" descr="一張含有 符號, 標誌, 字型, 設計 的圖片&#10;&#10;AI 產生的內容可能不正確。">
              <a:extLst>
                <a:ext uri="{FF2B5EF4-FFF2-40B4-BE49-F238E27FC236}">
                  <a16:creationId xmlns:a16="http://schemas.microsoft.com/office/drawing/2014/main" id="{D7B82612-4938-F0E1-70A9-16554C06C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3930" y="5288223"/>
              <a:ext cx="1171107" cy="1114456"/>
            </a:xfrm>
            <a:prstGeom prst="rect">
              <a:avLst/>
            </a:prstGeom>
          </p:spPr>
        </p:pic>
        <p:sp>
          <p:nvSpPr>
            <p:cNvPr id="21" name="文字方塊 17">
              <a:extLst>
                <a:ext uri="{FF2B5EF4-FFF2-40B4-BE49-F238E27FC236}">
                  <a16:creationId xmlns:a16="http://schemas.microsoft.com/office/drawing/2014/main" id="{DD696954-4532-ACDF-FB14-CCC193B049B3}"/>
                </a:ext>
              </a:extLst>
            </p:cNvPr>
            <p:cNvSpPr txBox="1"/>
            <p:nvPr/>
          </p:nvSpPr>
          <p:spPr>
            <a:xfrm>
              <a:off x="5480041" y="1050583"/>
              <a:ext cx="211031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491A5"/>
                  </a:solidFill>
                  <a:effectLst/>
                  <a:uLnTx/>
                  <a:uFillTx/>
                  <a:latin typeface="Calibri"/>
                  <a:ea typeface="Microsoft JhengHei"/>
                  <a:cs typeface="+mj-cs"/>
                </a:rPr>
                <a:t>N</a:t>
              </a:r>
              <a:r>
                <a:rPr lang="en-US" altLang="zh-TW" sz="2400" b="1" dirty="0" err="1">
                  <a:solidFill>
                    <a:srgbClr val="2491A5"/>
                  </a:solidFill>
                  <a:latin typeface="Calibri"/>
                  <a:ea typeface="Microsoft JhengHei"/>
                  <a:cs typeface="+mj-cs"/>
                </a:rPr>
                <a:t>ova</a:t>
              </a:r>
              <a:r>
                <a:rPr lang="en-US" altLang="zh-TW" sz="2400" b="1" dirty="0" err="1">
                  <a:solidFill>
                    <a:schemeClr val="accent5"/>
                  </a:solidFill>
                  <a:latin typeface="Calibri"/>
                  <a:ea typeface="Microsoft JhengHei"/>
                  <a:cs typeface="+mj-cs"/>
                </a:rPr>
                <a:t>Assay</a:t>
              </a:r>
              <a:endParaRPr lang="zh-TW" altLang="en-US" sz="2400" dirty="0">
                <a:solidFill>
                  <a:schemeClr val="accent5"/>
                </a:solidFill>
              </a:endParaRPr>
            </a:p>
          </p:txBody>
        </p:sp>
        <p:sp>
          <p:nvSpPr>
            <p:cNvPr id="22" name="矩形 19">
              <a:extLst>
                <a:ext uri="{FF2B5EF4-FFF2-40B4-BE49-F238E27FC236}">
                  <a16:creationId xmlns:a16="http://schemas.microsoft.com/office/drawing/2014/main" id="{A861E7FB-F1C9-E9C0-1F04-353F423FC6E8}"/>
                </a:ext>
              </a:extLst>
            </p:cNvPr>
            <p:cNvSpPr/>
            <p:nvPr/>
          </p:nvSpPr>
          <p:spPr>
            <a:xfrm>
              <a:off x="1326007" y="1836616"/>
              <a:ext cx="1695663" cy="4685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2491A5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Nova</a:t>
              </a:r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FF0000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CHIP</a:t>
              </a:r>
              <a:endParaRPr lang="zh-TW" altLang="en-US" sz="2800" b="1" dirty="0">
                <a:ln w="12700">
                  <a:noFill/>
                  <a:prstDash val="solid"/>
                </a:ln>
                <a:solidFill>
                  <a:srgbClr val="FF0000"/>
                </a:solidFill>
                <a:effectLst>
                  <a:outerShdw sx="1000" sy="1000" algn="ctr" rotWithShape="0">
                    <a:schemeClr val="bg1"/>
                  </a:outerShdw>
                  <a:reflection blurRad="6350" endPos="0" dir="5400000" sy="-100000" algn="bl" rotWithShape="0"/>
                </a:effectLst>
              </a:endParaRPr>
            </a:p>
          </p:txBody>
        </p:sp>
        <p:sp>
          <p:nvSpPr>
            <p:cNvPr id="23" name="矩形 20">
              <a:extLst>
                <a:ext uri="{FF2B5EF4-FFF2-40B4-BE49-F238E27FC236}">
                  <a16:creationId xmlns:a16="http://schemas.microsoft.com/office/drawing/2014/main" id="{4A51E498-1B43-2950-E824-8D53D9037F3D}"/>
                </a:ext>
              </a:extLst>
            </p:cNvPr>
            <p:cNvSpPr/>
            <p:nvPr/>
          </p:nvSpPr>
          <p:spPr>
            <a:xfrm>
              <a:off x="1326007" y="3650577"/>
              <a:ext cx="1530227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2491A5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Nova</a:t>
              </a:r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KIT</a:t>
              </a:r>
              <a:endParaRPr lang="zh-TW" altLang="en-US" sz="2800" b="1" dirty="0">
                <a:ln w="12700">
                  <a:noFill/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sx="1000" sy="1000" algn="ctr" rotWithShape="0">
                    <a:schemeClr val="bg1"/>
                  </a:outerShdw>
                  <a:reflection blurRad="6350" endPos="0" dir="5400000" sy="-100000" algn="bl" rotWithShape="0"/>
                </a:effectLst>
              </a:endParaRPr>
            </a:p>
          </p:txBody>
        </p:sp>
        <p:sp>
          <p:nvSpPr>
            <p:cNvPr id="24" name="矩形 21">
              <a:extLst>
                <a:ext uri="{FF2B5EF4-FFF2-40B4-BE49-F238E27FC236}">
                  <a16:creationId xmlns:a16="http://schemas.microsoft.com/office/drawing/2014/main" id="{74714AB4-BCD2-AF4E-52C8-6C532740DBBC}"/>
                </a:ext>
              </a:extLst>
            </p:cNvPr>
            <p:cNvSpPr/>
            <p:nvPr/>
          </p:nvSpPr>
          <p:spPr>
            <a:xfrm>
              <a:off x="8825037" y="1899778"/>
              <a:ext cx="1471741" cy="4685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2491A5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Nova</a:t>
              </a:r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FFC000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BIO</a:t>
              </a:r>
              <a:endParaRPr lang="zh-TW" altLang="en-US" sz="2800" b="1" dirty="0">
                <a:ln w="12700">
                  <a:noFill/>
                  <a:prstDash val="solid"/>
                </a:ln>
                <a:solidFill>
                  <a:srgbClr val="FFC000"/>
                </a:solidFill>
                <a:effectLst>
                  <a:outerShdw sx="1000" sy="1000" algn="ctr" rotWithShape="0">
                    <a:schemeClr val="bg1"/>
                  </a:outerShdw>
                  <a:reflection blurRad="6350" endPos="0" dir="5400000" sy="-100000" algn="bl" rotWithShape="0"/>
                </a:effectLst>
              </a:endParaRPr>
            </a:p>
          </p:txBody>
        </p:sp>
        <p:sp>
          <p:nvSpPr>
            <p:cNvPr id="25" name="矩形 22">
              <a:extLst>
                <a:ext uri="{FF2B5EF4-FFF2-40B4-BE49-F238E27FC236}">
                  <a16:creationId xmlns:a16="http://schemas.microsoft.com/office/drawing/2014/main" id="{C9AF006F-C966-86C9-DBBC-340FD4DCBA06}"/>
                </a:ext>
              </a:extLst>
            </p:cNvPr>
            <p:cNvSpPr/>
            <p:nvPr/>
          </p:nvSpPr>
          <p:spPr>
            <a:xfrm>
              <a:off x="8825037" y="3156065"/>
              <a:ext cx="179311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2491A5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Nova</a:t>
              </a:r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92D050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LINK</a:t>
              </a:r>
              <a:endParaRPr lang="zh-TW" altLang="en-US" sz="2800" b="1" dirty="0">
                <a:ln w="12700">
                  <a:noFill/>
                  <a:prstDash val="solid"/>
                </a:ln>
                <a:solidFill>
                  <a:srgbClr val="92D050"/>
                </a:solidFill>
                <a:effectLst>
                  <a:outerShdw sx="1000" sy="1000" algn="ctr" rotWithShape="0">
                    <a:schemeClr val="bg1"/>
                  </a:outerShdw>
                  <a:reflection blurRad="6350" endPos="0" dir="5400000" sy="-100000" algn="bl" rotWithShape="0"/>
                </a:effectLst>
              </a:endParaRPr>
            </a:p>
          </p:txBody>
        </p:sp>
        <p:sp>
          <p:nvSpPr>
            <p:cNvPr id="26" name="矩形 23">
              <a:extLst>
                <a:ext uri="{FF2B5EF4-FFF2-40B4-BE49-F238E27FC236}">
                  <a16:creationId xmlns:a16="http://schemas.microsoft.com/office/drawing/2014/main" id="{A8E099B3-B320-D1BD-3A41-751EF5D2ED98}"/>
                </a:ext>
              </a:extLst>
            </p:cNvPr>
            <p:cNvSpPr/>
            <p:nvPr/>
          </p:nvSpPr>
          <p:spPr>
            <a:xfrm>
              <a:off x="8886431" y="5353441"/>
              <a:ext cx="1605157" cy="4685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2491A5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Nova</a:t>
              </a:r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CRO</a:t>
              </a:r>
              <a:endParaRPr lang="zh-TW" altLang="en-US" sz="2800" b="1" dirty="0">
                <a:ln w="12700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sx="1000" sy="1000" algn="ctr" rotWithShape="0">
                    <a:schemeClr val="bg1"/>
                  </a:outerShdw>
                  <a:reflection blurRad="6350" endPos="0" dir="5400000" sy="-100000" algn="bl" rotWithShape="0"/>
                </a:effectLst>
              </a:endParaRPr>
            </a:p>
          </p:txBody>
        </p:sp>
        <p:sp>
          <p:nvSpPr>
            <p:cNvPr id="27" name="矩形 24">
              <a:extLst>
                <a:ext uri="{FF2B5EF4-FFF2-40B4-BE49-F238E27FC236}">
                  <a16:creationId xmlns:a16="http://schemas.microsoft.com/office/drawing/2014/main" id="{7AC34C52-E7A7-2D48-7ECD-ED20B7082BBD}"/>
                </a:ext>
              </a:extLst>
            </p:cNvPr>
            <p:cNvSpPr/>
            <p:nvPr/>
          </p:nvSpPr>
          <p:spPr>
            <a:xfrm>
              <a:off x="1404432" y="5389184"/>
              <a:ext cx="1230256" cy="4685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2491A5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Nova</a:t>
              </a:r>
              <a:r>
                <a:rPr lang="en-US" altLang="zh-TW" sz="2800" b="1" dirty="0" err="1">
                  <a:ln w="12700">
                    <a:noFill/>
                    <a:prstDash val="solid"/>
                  </a:ln>
                  <a:solidFill>
                    <a:srgbClr val="B17ED8"/>
                  </a:solidFill>
                  <a:effectLst>
                    <a:outerShdw sx="1000" sy="1000" algn="ctr" rotWithShape="0">
                      <a:schemeClr val="bg1"/>
                    </a:outerShdw>
                    <a:reflection blurRad="6350" endPos="0" dir="5400000" sy="-100000" algn="bl" rotWithShape="0"/>
                  </a:effectLst>
                </a:rPr>
                <a:t>AI</a:t>
              </a:r>
              <a:endParaRPr lang="zh-TW" altLang="en-US" sz="2800" b="1" dirty="0">
                <a:ln w="12700">
                  <a:noFill/>
                  <a:prstDash val="solid"/>
                </a:ln>
                <a:solidFill>
                  <a:srgbClr val="B17ED8"/>
                </a:solidFill>
                <a:effectLst>
                  <a:outerShdw sx="1000" sy="1000" algn="ctr" rotWithShape="0">
                    <a:schemeClr val="bg1"/>
                  </a:outerShdw>
                  <a:reflection blurRad="6350" endPos="0" dir="5400000" sy="-100000" algn="bl" rotWithShape="0"/>
                </a:effectLst>
              </a:endParaRPr>
            </a:p>
          </p:txBody>
        </p:sp>
        <p:cxnSp>
          <p:nvCxnSpPr>
            <p:cNvPr id="28" name="肘形接點 27">
              <a:extLst>
                <a:ext uri="{FF2B5EF4-FFF2-40B4-BE49-F238E27FC236}">
                  <a16:creationId xmlns:a16="http://schemas.microsoft.com/office/drawing/2014/main" id="{15CF7CAD-697A-8B5D-8052-9AF11D043A63}"/>
                </a:ext>
              </a:extLst>
            </p:cNvPr>
            <p:cNvCxnSpPr>
              <a:cxnSpLocks/>
            </p:cNvCxnSpPr>
            <p:nvPr/>
          </p:nvCxnSpPr>
          <p:spPr>
            <a:xfrm>
              <a:off x="4031457" y="3930638"/>
              <a:ext cx="1165945" cy="8251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FA9EB308-4D5A-0761-04DE-CCB1871883F1}"/>
                </a:ext>
              </a:extLst>
            </p:cNvPr>
            <p:cNvSpPr txBox="1"/>
            <p:nvPr/>
          </p:nvSpPr>
          <p:spPr>
            <a:xfrm>
              <a:off x="5169102" y="2823448"/>
              <a:ext cx="19068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>
                  <a:solidFill>
                    <a:schemeClr val="tx2"/>
                  </a:solidFill>
                  <a:ea typeface="標楷體" panose="03000509000000000000" pitchFamily="65" charset="-120"/>
                </a:rPr>
                <a:t>Surface Treatment</a:t>
              </a:r>
              <a:endParaRPr lang="zh-TW" altLang="en-US" sz="1600" b="1" dirty="0">
                <a:solidFill>
                  <a:schemeClr val="tx2"/>
                </a:solidFill>
                <a:ea typeface="標楷體" panose="03000509000000000000" pitchFamily="65" charset="-12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7AD8FEA-735E-AAAC-EA23-C37F073DA595}"/>
                </a:ext>
              </a:extLst>
            </p:cNvPr>
            <p:cNvSpPr txBox="1"/>
            <p:nvPr/>
          </p:nvSpPr>
          <p:spPr>
            <a:xfrm>
              <a:off x="6113477" y="2471296"/>
              <a:ext cx="12034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>
                  <a:solidFill>
                    <a:schemeClr val="tx2"/>
                  </a:solidFill>
                  <a:ea typeface="標楷體" panose="03000509000000000000" pitchFamily="65" charset="-120"/>
                </a:rPr>
                <a:t>Bio-probes</a:t>
              </a:r>
              <a:endParaRPr lang="zh-TW" altLang="en-US" sz="1600" b="1" dirty="0">
                <a:solidFill>
                  <a:schemeClr val="tx2"/>
                </a:solidFill>
                <a:ea typeface="標楷體" panose="03000509000000000000" pitchFamily="65" charset="-120"/>
              </a:endParaRPr>
            </a:p>
          </p:txBody>
        </p:sp>
        <p:cxnSp>
          <p:nvCxnSpPr>
            <p:cNvPr id="31" name="肘形接點 69">
              <a:extLst>
                <a:ext uri="{FF2B5EF4-FFF2-40B4-BE49-F238E27FC236}">
                  <a16:creationId xmlns:a16="http://schemas.microsoft.com/office/drawing/2014/main" id="{96455B98-141D-2120-159D-C13E77CD6E4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190400" y="1836769"/>
              <a:ext cx="1694675" cy="17553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肘形接點 80">
              <a:extLst>
                <a:ext uri="{FF2B5EF4-FFF2-40B4-BE49-F238E27FC236}">
                  <a16:creationId xmlns:a16="http://schemas.microsoft.com/office/drawing/2014/main" id="{61CD8549-C375-3460-3186-95332037F4C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212248" y="2996468"/>
              <a:ext cx="671030" cy="65914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肘形接點 22">
              <a:extLst>
                <a:ext uri="{FF2B5EF4-FFF2-40B4-BE49-F238E27FC236}">
                  <a16:creationId xmlns:a16="http://schemas.microsoft.com/office/drawing/2014/main" id="{9A4A4564-8726-1FA3-E7E3-DCA3C9CE4C0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943312" y="2550553"/>
              <a:ext cx="1289424" cy="690963"/>
            </a:xfrm>
            <a:prstGeom prst="bentConnector2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headEnd type="oval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6">
              <a:extLst>
                <a:ext uri="{FF2B5EF4-FFF2-40B4-BE49-F238E27FC236}">
                  <a16:creationId xmlns:a16="http://schemas.microsoft.com/office/drawing/2014/main" id="{7FD4884B-D76A-70A5-7F6D-DF5C6B6D4070}"/>
                </a:ext>
              </a:extLst>
            </p:cNvPr>
            <p:cNvSpPr txBox="1"/>
            <p:nvPr/>
          </p:nvSpPr>
          <p:spPr>
            <a:xfrm>
              <a:off x="6153722" y="5792039"/>
              <a:ext cx="122105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600" b="1" dirty="0"/>
                <a:t>Test</a:t>
              </a:r>
              <a:r>
                <a:rPr lang="zh-TW" altLang="en-US" sz="1600" b="1" dirty="0"/>
                <a:t> </a:t>
              </a:r>
              <a:r>
                <a:rPr lang="en-US" altLang="zh-TW" sz="1600" b="1" dirty="0"/>
                <a:t>Data</a:t>
              </a:r>
            </a:p>
          </p:txBody>
        </p:sp>
        <p:cxnSp>
          <p:nvCxnSpPr>
            <p:cNvPr id="35" name="肘形接點 80">
              <a:extLst>
                <a:ext uri="{FF2B5EF4-FFF2-40B4-BE49-F238E27FC236}">
                  <a16:creationId xmlns:a16="http://schemas.microsoft.com/office/drawing/2014/main" id="{3A56AAD2-40CA-33DE-B7EC-153FF0E0171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130150" y="5645444"/>
              <a:ext cx="1655632" cy="53880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肘形接點 27">
              <a:extLst>
                <a:ext uri="{FF2B5EF4-FFF2-40B4-BE49-F238E27FC236}">
                  <a16:creationId xmlns:a16="http://schemas.microsoft.com/office/drawing/2014/main" id="{9840FF48-3457-D35C-CC84-D389A44B35C3}"/>
                </a:ext>
              </a:extLst>
            </p:cNvPr>
            <p:cNvCxnSpPr>
              <a:cxnSpLocks/>
            </p:cNvCxnSpPr>
            <p:nvPr/>
          </p:nvCxnSpPr>
          <p:spPr>
            <a:xfrm>
              <a:off x="4273131" y="5735217"/>
              <a:ext cx="1154165" cy="30273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  <a:prstDash val="sysDot"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74">
              <a:extLst>
                <a:ext uri="{FF2B5EF4-FFF2-40B4-BE49-F238E27FC236}">
                  <a16:creationId xmlns:a16="http://schemas.microsoft.com/office/drawing/2014/main" id="{4A00DD71-E0DB-C9F2-B719-410DD0D5F25A}"/>
                </a:ext>
              </a:extLst>
            </p:cNvPr>
            <p:cNvSpPr txBox="1"/>
            <p:nvPr/>
          </p:nvSpPr>
          <p:spPr>
            <a:xfrm>
              <a:off x="1165010" y="2319995"/>
              <a:ext cx="229520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Molecule-agnostic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solidFill>
                    <a:srgbClr val="000000"/>
                  </a:solidFill>
                  <a:latin typeface="Aptos" panose="020B0004020202020204" pitchFamily="34" charset="0"/>
                </a:rPr>
                <a:t>Cost-effective ASIC</a:t>
              </a:r>
              <a:endParaRPr lang="en-US" altLang="zh-TW" sz="14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endParaRPr>
            </a:p>
            <a:p>
              <a:r>
                <a:rPr lang="en-US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 </a:t>
              </a:r>
              <a:endParaRPr lang="zh-TW" alt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38" name="文字方塊 76">
              <a:extLst>
                <a:ext uri="{FF2B5EF4-FFF2-40B4-BE49-F238E27FC236}">
                  <a16:creationId xmlns:a16="http://schemas.microsoft.com/office/drawing/2014/main" id="{FAC0E529-D8EA-50E8-ACC2-A791E411FBCA}"/>
                </a:ext>
              </a:extLst>
            </p:cNvPr>
            <p:cNvSpPr txBox="1"/>
            <p:nvPr/>
          </p:nvSpPr>
          <p:spPr>
            <a:xfrm>
              <a:off x="8737590" y="3638494"/>
              <a:ext cx="325020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Patented chemistry</a:t>
              </a:r>
              <a:endParaRPr lang="en-US" altLang="zh-TW" sz="1400" dirty="0">
                <a:solidFill>
                  <a:srgbClr val="000000"/>
                </a:solidFill>
                <a:latin typeface="Aptos" panose="020B00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dirty="0">
                  <a:solidFill>
                    <a:srgbClr val="000000"/>
                  </a:solidFill>
                  <a:latin typeface="Aptos" panose="020B0004020202020204" pitchFamily="34" charset="0"/>
                </a:rPr>
                <a:t>Proprietary reagents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dirty="0">
                  <a:solidFill>
                    <a:srgbClr val="000000"/>
                  </a:solidFill>
                  <a:latin typeface="Aptos" panose="020B0004020202020204" pitchFamily="34" charset="0"/>
                </a:rPr>
                <a:t>Probe embedded in surface coating</a:t>
              </a:r>
              <a:endParaRPr lang="en-US" altLang="zh-TW" sz="1400" dirty="0">
                <a:solidFill>
                  <a:srgbClr val="000000"/>
                </a:solidFill>
                <a:latin typeface="Aptos" panose="020B0004020202020204" pitchFamily="34" charset="0"/>
              </a:endParaRPr>
            </a:p>
            <a:p>
              <a:endParaRPr lang="en-US" altLang="zh-TW" sz="1400" dirty="0">
                <a:solidFill>
                  <a:srgbClr val="000000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9" name="文字方塊 78">
              <a:extLst>
                <a:ext uri="{FF2B5EF4-FFF2-40B4-BE49-F238E27FC236}">
                  <a16:creationId xmlns:a16="http://schemas.microsoft.com/office/drawing/2014/main" id="{3E8E6AF1-0E9C-CFB6-9DBC-190A27A33075}"/>
                </a:ext>
              </a:extLst>
            </p:cNvPr>
            <p:cNvSpPr txBox="1"/>
            <p:nvPr/>
          </p:nvSpPr>
          <p:spPr>
            <a:xfrm>
              <a:off x="8826129" y="2350052"/>
              <a:ext cx="34557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Microfluids-based fast-tracked sample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Buffer system</a:t>
              </a:r>
            </a:p>
          </p:txBody>
        </p:sp>
        <p:sp>
          <p:nvSpPr>
            <p:cNvPr id="40" name="文字方塊 80">
              <a:extLst>
                <a:ext uri="{FF2B5EF4-FFF2-40B4-BE49-F238E27FC236}">
                  <a16:creationId xmlns:a16="http://schemas.microsoft.com/office/drawing/2014/main" id="{9AEFDD76-2018-9012-B9D3-DA816BC4EBD8}"/>
                </a:ext>
              </a:extLst>
            </p:cNvPr>
            <p:cNvSpPr txBox="1"/>
            <p:nvPr/>
          </p:nvSpPr>
          <p:spPr>
            <a:xfrm>
              <a:off x="1178095" y="4139440"/>
              <a:ext cx="283122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Cartridge for disposable ASIC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Analyzer for data reading </a:t>
              </a:r>
              <a:endParaRPr lang="en-US" altLang="zh-TW" sz="1400" dirty="0">
                <a:solidFill>
                  <a:srgbClr val="000000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41" name="文字方塊 82">
              <a:extLst>
                <a:ext uri="{FF2B5EF4-FFF2-40B4-BE49-F238E27FC236}">
                  <a16:creationId xmlns:a16="http://schemas.microsoft.com/office/drawing/2014/main" id="{54C60D4A-48F8-B32A-4DC3-6DE199D74704}"/>
                </a:ext>
              </a:extLst>
            </p:cNvPr>
            <p:cNvSpPr txBox="1"/>
            <p:nvPr/>
          </p:nvSpPr>
          <p:spPr>
            <a:xfrm>
              <a:off x="8794449" y="5845451"/>
              <a:ext cx="22172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Specimen repository</a:t>
              </a:r>
              <a:endParaRPr lang="en-US" altLang="zh-TW" sz="1400" dirty="0">
                <a:solidFill>
                  <a:srgbClr val="000000"/>
                </a:solidFill>
                <a:latin typeface="Aptos" panose="020B00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Certified lab</a:t>
              </a:r>
              <a:endParaRPr lang="en-US" altLang="zh-TW" sz="1400" dirty="0">
                <a:solidFill>
                  <a:srgbClr val="000000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42" name="文字方塊 84">
              <a:extLst>
                <a:ext uri="{FF2B5EF4-FFF2-40B4-BE49-F238E27FC236}">
                  <a16:creationId xmlns:a16="http://schemas.microsoft.com/office/drawing/2014/main" id="{0299D1AC-5848-A7A8-A1D4-8385B7A124B3}"/>
                </a:ext>
              </a:extLst>
            </p:cNvPr>
            <p:cNvSpPr txBox="1"/>
            <p:nvPr/>
          </p:nvSpPr>
          <p:spPr>
            <a:xfrm>
              <a:off x="1235652" y="5892407"/>
              <a:ext cx="170165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Smart process</a:t>
              </a:r>
              <a:endParaRPr lang="en-US" altLang="zh-TW" sz="1400" dirty="0">
                <a:solidFill>
                  <a:srgbClr val="000000"/>
                </a:solidFill>
                <a:latin typeface="Aptos" panose="020B00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TW" sz="1400" b="0" i="0" u="none" strike="noStrike" dirty="0">
                  <a:solidFill>
                    <a:srgbClr val="000000"/>
                  </a:solidFill>
                  <a:effectLst/>
                  <a:latin typeface="Aptos" panose="020B0004020202020204" pitchFamily="34" charset="0"/>
                </a:rPr>
                <a:t>Automation</a:t>
              </a:r>
              <a:endParaRPr lang="zh-TW" altLang="en-US" sz="1400" dirty="0">
                <a:latin typeface="Aptos" panose="020B0004020202020204" pitchFamily="34" charset="0"/>
              </a:endParaRPr>
            </a:p>
          </p:txBody>
        </p:sp>
      </p:grpSp>
      <p:sp>
        <p:nvSpPr>
          <p:cNvPr id="57" name="文字方塊 12">
            <a:extLst>
              <a:ext uri="{FF2B5EF4-FFF2-40B4-BE49-F238E27FC236}">
                <a16:creationId xmlns:a16="http://schemas.microsoft.com/office/drawing/2014/main" id="{A82C7191-3C0A-835C-7C24-15E595B97102}"/>
              </a:ext>
            </a:extLst>
          </p:cNvPr>
          <p:cNvSpPr txBox="1"/>
          <p:nvPr/>
        </p:nvSpPr>
        <p:spPr>
          <a:xfrm>
            <a:off x="6006712" y="4544597"/>
            <a:ext cx="6120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tx2"/>
                </a:solidFill>
                <a:ea typeface="標楷體" panose="03000509000000000000" pitchFamily="65" charset="-120"/>
              </a:rPr>
              <a:t>Detection based on the change of the electric charge distribution at the surface of </a:t>
            </a:r>
            <a:r>
              <a:rPr lang="en-US" altLang="zh-TW" sz="1600" b="1" dirty="0" err="1">
                <a:solidFill>
                  <a:srgbClr val="478B90"/>
                </a:solidFill>
                <a:ea typeface="標楷體" panose="03000509000000000000" pitchFamily="65" charset="-120"/>
              </a:rPr>
              <a:t>Nova</a:t>
            </a:r>
            <a:r>
              <a:rPr lang="en-US" altLang="zh-TW" sz="1600" b="1" dirty="0" err="1">
                <a:solidFill>
                  <a:srgbClr val="FF0000"/>
                </a:solidFill>
                <a:ea typeface="標楷體" panose="03000509000000000000" pitchFamily="65" charset="-120"/>
              </a:rPr>
              <a:t>CHIP</a:t>
            </a:r>
            <a:r>
              <a:rPr lang="en-US" altLang="zh-TW" sz="1600" b="1" dirty="0">
                <a:solidFill>
                  <a:schemeClr val="tx2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1600" dirty="0">
                <a:solidFill>
                  <a:schemeClr val="tx2"/>
                </a:solidFill>
                <a:ea typeface="標楷體" panose="03000509000000000000" pitchFamily="65" charset="-120"/>
              </a:rPr>
              <a:t>after the binding with the analyte </a:t>
            </a:r>
            <a:endParaRPr lang="zh-TW" altLang="en-US" sz="1600" dirty="0">
              <a:solidFill>
                <a:schemeClr val="tx2"/>
              </a:solidFill>
              <a:ea typeface="標楷體" panose="03000509000000000000" pitchFamily="65" charset="-120"/>
            </a:endParaRPr>
          </a:p>
        </p:txBody>
      </p:sp>
      <p:sp>
        <p:nvSpPr>
          <p:cNvPr id="2" name="文字方塊 18">
            <a:extLst>
              <a:ext uri="{FF2B5EF4-FFF2-40B4-BE49-F238E27FC236}">
                <a16:creationId xmlns:a16="http://schemas.microsoft.com/office/drawing/2014/main" id="{844DD589-F5DF-1072-E6DF-94D8037AD627}"/>
              </a:ext>
            </a:extLst>
          </p:cNvPr>
          <p:cNvSpPr txBox="1"/>
          <p:nvPr/>
        </p:nvSpPr>
        <p:spPr>
          <a:xfrm>
            <a:off x="162170" y="2409194"/>
            <a:ext cx="461665" cy="17396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/>
              <a:t>Enabling Engine </a:t>
            </a:r>
            <a:endParaRPr lang="zh-TW" altLang="en-US" dirty="0"/>
          </a:p>
        </p:txBody>
      </p:sp>
      <p:sp>
        <p:nvSpPr>
          <p:cNvPr id="3" name="文字方塊 25">
            <a:extLst>
              <a:ext uri="{FF2B5EF4-FFF2-40B4-BE49-F238E27FC236}">
                <a16:creationId xmlns:a16="http://schemas.microsoft.com/office/drawing/2014/main" id="{04FB3EE9-A4E5-CCCD-B49C-7FA4F8469342}"/>
              </a:ext>
            </a:extLst>
          </p:cNvPr>
          <p:cNvSpPr txBox="1"/>
          <p:nvPr/>
        </p:nvSpPr>
        <p:spPr>
          <a:xfrm>
            <a:off x="64643" y="5087400"/>
            <a:ext cx="738664" cy="13896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TW" dirty="0"/>
              <a:t>Value-added services</a:t>
            </a:r>
            <a:endParaRPr lang="zh-TW" altLang="en-US" dirty="0"/>
          </a:p>
        </p:txBody>
      </p:sp>
      <p:sp>
        <p:nvSpPr>
          <p:cNvPr id="56" name="左中括弧 3">
            <a:extLst>
              <a:ext uri="{FF2B5EF4-FFF2-40B4-BE49-F238E27FC236}">
                <a16:creationId xmlns:a16="http://schemas.microsoft.com/office/drawing/2014/main" id="{43F377BD-0598-327C-0F70-56869341BF72}"/>
              </a:ext>
            </a:extLst>
          </p:cNvPr>
          <p:cNvSpPr/>
          <p:nvPr/>
        </p:nvSpPr>
        <p:spPr>
          <a:xfrm>
            <a:off x="658950" y="2098007"/>
            <a:ext cx="272264" cy="2435968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左中括弧 38">
            <a:extLst>
              <a:ext uri="{FF2B5EF4-FFF2-40B4-BE49-F238E27FC236}">
                <a16:creationId xmlns:a16="http://schemas.microsoft.com/office/drawing/2014/main" id="{FD9D2ED3-F03E-A670-F27E-AD069712D01D}"/>
              </a:ext>
            </a:extLst>
          </p:cNvPr>
          <p:cNvSpPr/>
          <p:nvPr/>
        </p:nvSpPr>
        <p:spPr>
          <a:xfrm>
            <a:off x="856175" y="5232655"/>
            <a:ext cx="75040" cy="1114456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D4BA0796-DFE4-D9CB-8137-7AEDE0CA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110D0-AE1D-47B2-8E18-2409A0F3B65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98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48CA12-02F3-BCAD-9EE7-F5A310538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1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FD699D6E-DD33-305A-874D-122C6BB6E04C}"/>
              </a:ext>
            </a:extLst>
          </p:cNvPr>
          <p:cNvSpPr txBox="1">
            <a:spLocks/>
          </p:cNvSpPr>
          <p:nvPr/>
        </p:nvSpPr>
        <p:spPr>
          <a:xfrm>
            <a:off x="449800" y="449189"/>
            <a:ext cx="11102184" cy="507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TW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zh-TW" sz="2400" b="1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VASCOPE Extended-Gate FET (Field Effect Transistor): From Probes to Processors</a:t>
            </a:r>
            <a:endParaRPr kumimoji="1" lang="zh-TW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文字方塊 96">
            <a:extLst>
              <a:ext uri="{FF2B5EF4-FFF2-40B4-BE49-F238E27FC236}">
                <a16:creationId xmlns:a16="http://schemas.microsoft.com/office/drawing/2014/main" id="{5BBAA730-3924-0284-3F92-88E9134E23D2}"/>
              </a:ext>
            </a:extLst>
          </p:cNvPr>
          <p:cNvSpPr txBox="1"/>
          <p:nvPr/>
        </p:nvSpPr>
        <p:spPr>
          <a:xfrm>
            <a:off x="9822691" y="5569720"/>
            <a:ext cx="18662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kern="0" dirty="0">
                <a:solidFill>
                  <a:prstClr val="black"/>
                </a:solidFill>
                <a:latin typeface="Calibri"/>
                <a:ea typeface="標楷體"/>
              </a:rPr>
              <a:t>Real-time test results 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sp>
        <p:nvSpPr>
          <p:cNvPr id="117" name="矩形 106">
            <a:extLst>
              <a:ext uri="{FF2B5EF4-FFF2-40B4-BE49-F238E27FC236}">
                <a16:creationId xmlns:a16="http://schemas.microsoft.com/office/drawing/2014/main" id="{AF6ADD11-DB27-FB13-CB64-F5A930F45AC0}"/>
              </a:ext>
            </a:extLst>
          </p:cNvPr>
          <p:cNvSpPr/>
          <p:nvPr/>
        </p:nvSpPr>
        <p:spPr>
          <a:xfrm>
            <a:off x="5284183" y="6022800"/>
            <a:ext cx="6404799" cy="280800"/>
          </a:xfrm>
          <a:prstGeom prst="rect">
            <a:avLst/>
          </a:prstGeom>
          <a:solidFill>
            <a:srgbClr val="2491A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kern="0" dirty="0">
                <a:solidFill>
                  <a:prstClr val="white"/>
                </a:solidFill>
                <a:latin typeface="Calibri"/>
                <a:ea typeface="標楷體"/>
              </a:rPr>
              <a:t>Automated Process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pic>
        <p:nvPicPr>
          <p:cNvPr id="2" name="圖片 2">
            <a:extLst>
              <a:ext uri="{FF2B5EF4-FFF2-40B4-BE49-F238E27FC236}">
                <a16:creationId xmlns:a16="http://schemas.microsoft.com/office/drawing/2014/main" id="{D383D1B3-93A2-E8AB-1375-868E3E3D38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23887" y="1588299"/>
            <a:ext cx="1833822" cy="1819716"/>
          </a:xfrm>
          <a:prstGeom prst="rect">
            <a:avLst/>
          </a:prstGeom>
        </p:spPr>
      </p:pic>
      <p:sp>
        <p:nvSpPr>
          <p:cNvPr id="119" name="矩形 210">
            <a:extLst>
              <a:ext uri="{FF2B5EF4-FFF2-40B4-BE49-F238E27FC236}">
                <a16:creationId xmlns:a16="http://schemas.microsoft.com/office/drawing/2014/main" id="{E3C1FDDE-EA25-15ED-9F9A-BE4F6CB861FA}"/>
              </a:ext>
            </a:extLst>
          </p:cNvPr>
          <p:cNvSpPr/>
          <p:nvPr/>
        </p:nvSpPr>
        <p:spPr>
          <a:xfrm>
            <a:off x="562218" y="6021715"/>
            <a:ext cx="4289581" cy="281671"/>
          </a:xfrm>
          <a:prstGeom prst="rect">
            <a:avLst/>
          </a:prstGeom>
          <a:solidFill>
            <a:srgbClr val="2491A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rPr>
              <a:t>Biochip Design and Production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sp>
        <p:nvSpPr>
          <p:cNvPr id="127" name="矩形 20">
            <a:extLst>
              <a:ext uri="{FF2B5EF4-FFF2-40B4-BE49-F238E27FC236}">
                <a16:creationId xmlns:a16="http://schemas.microsoft.com/office/drawing/2014/main" id="{3A431194-4526-AD2D-11C4-72E027711AB7}"/>
              </a:ext>
            </a:extLst>
          </p:cNvPr>
          <p:cNvSpPr/>
          <p:nvPr/>
        </p:nvSpPr>
        <p:spPr>
          <a:xfrm>
            <a:off x="784374" y="3817073"/>
            <a:ext cx="1596621" cy="234988"/>
          </a:xfrm>
          <a:prstGeom prst="rect">
            <a:avLst/>
          </a:prstGeom>
          <a:solidFill>
            <a:srgbClr val="FFFF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標楷體"/>
                <a:cs typeface="+mn-cs"/>
              </a:rPr>
              <a:t>Bare chip</a:t>
            </a:r>
            <a:endParaRPr kumimoji="0" lang="zh-TW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sp>
        <p:nvSpPr>
          <p:cNvPr id="128" name="矩形 50">
            <a:extLst>
              <a:ext uri="{FF2B5EF4-FFF2-40B4-BE49-F238E27FC236}">
                <a16:creationId xmlns:a16="http://schemas.microsoft.com/office/drawing/2014/main" id="{37F8BD42-4F7C-5FA2-35B0-AE33EBBCDB10}"/>
              </a:ext>
            </a:extLst>
          </p:cNvPr>
          <p:cNvSpPr/>
          <p:nvPr/>
        </p:nvSpPr>
        <p:spPr>
          <a:xfrm>
            <a:off x="2894552" y="3824042"/>
            <a:ext cx="1992287" cy="228019"/>
          </a:xfrm>
          <a:prstGeom prst="rect">
            <a:avLst/>
          </a:prstGeom>
          <a:solidFill>
            <a:srgbClr val="FFFF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標楷體"/>
                <a:cs typeface="+mn-cs"/>
              </a:rPr>
              <a:t>Functional biochip</a:t>
            </a:r>
            <a:endParaRPr kumimoji="0" lang="zh-TW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grpSp>
        <p:nvGrpSpPr>
          <p:cNvPr id="174" name="群組 125">
            <a:extLst>
              <a:ext uri="{FF2B5EF4-FFF2-40B4-BE49-F238E27FC236}">
                <a16:creationId xmlns:a16="http://schemas.microsoft.com/office/drawing/2014/main" id="{E81B07D8-8D06-FC9A-304D-021F10B8763B}"/>
              </a:ext>
            </a:extLst>
          </p:cNvPr>
          <p:cNvGrpSpPr/>
          <p:nvPr/>
        </p:nvGrpSpPr>
        <p:grpSpPr>
          <a:xfrm>
            <a:off x="659435" y="4596616"/>
            <a:ext cx="1721364" cy="801961"/>
            <a:chOff x="6656939" y="2496004"/>
            <a:chExt cx="2113405" cy="847807"/>
          </a:xfrm>
        </p:grpSpPr>
        <p:sp>
          <p:nvSpPr>
            <p:cNvPr id="175" name="矩形 126">
              <a:extLst>
                <a:ext uri="{FF2B5EF4-FFF2-40B4-BE49-F238E27FC236}">
                  <a16:creationId xmlns:a16="http://schemas.microsoft.com/office/drawing/2014/main" id="{387454F1-5CFB-D67A-A3AA-2DA329803E26}"/>
                </a:ext>
              </a:extLst>
            </p:cNvPr>
            <p:cNvSpPr/>
            <p:nvPr/>
          </p:nvSpPr>
          <p:spPr bwMode="auto">
            <a:xfrm>
              <a:off x="6656941" y="2524831"/>
              <a:ext cx="2113403" cy="288000"/>
            </a:xfrm>
            <a:prstGeom prst="rect">
              <a:avLst/>
            </a:prstGeom>
            <a:solidFill>
              <a:srgbClr val="A5A5A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176" name="矩形 127">
              <a:extLst>
                <a:ext uri="{FF2B5EF4-FFF2-40B4-BE49-F238E27FC236}">
                  <a16:creationId xmlns:a16="http://schemas.microsoft.com/office/drawing/2014/main" id="{C3558E57-C941-6B1A-D4BB-F50C6F827176}"/>
                </a:ext>
              </a:extLst>
            </p:cNvPr>
            <p:cNvSpPr/>
            <p:nvPr/>
          </p:nvSpPr>
          <p:spPr bwMode="auto">
            <a:xfrm>
              <a:off x="6656940" y="2806303"/>
              <a:ext cx="2113404" cy="537508"/>
            </a:xfrm>
            <a:prstGeom prst="rect">
              <a:avLst/>
            </a:prstGeom>
            <a:solidFill>
              <a:srgbClr val="A5A5A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177" name="矩形 128">
              <a:extLst>
                <a:ext uri="{FF2B5EF4-FFF2-40B4-BE49-F238E27FC236}">
                  <a16:creationId xmlns:a16="http://schemas.microsoft.com/office/drawing/2014/main" id="{F759E195-A0AF-35D6-83C8-F87A61DE0979}"/>
                </a:ext>
              </a:extLst>
            </p:cNvPr>
            <p:cNvSpPr/>
            <p:nvPr/>
          </p:nvSpPr>
          <p:spPr bwMode="auto">
            <a:xfrm>
              <a:off x="7416862" y="2807015"/>
              <a:ext cx="617007" cy="128648"/>
            </a:xfrm>
            <a:prstGeom prst="rect">
              <a:avLst/>
            </a:prstGeom>
            <a:solidFill>
              <a:srgbClr val="A5A5A5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178" name="手繪多邊形 66">
              <a:extLst>
                <a:ext uri="{FF2B5EF4-FFF2-40B4-BE49-F238E27FC236}">
                  <a16:creationId xmlns:a16="http://schemas.microsoft.com/office/drawing/2014/main" id="{5D12B1F8-CB6F-0906-C277-DEBAFD4B937C}"/>
                </a:ext>
              </a:extLst>
            </p:cNvPr>
            <p:cNvSpPr/>
            <p:nvPr/>
          </p:nvSpPr>
          <p:spPr bwMode="auto">
            <a:xfrm>
              <a:off x="6656939" y="2496004"/>
              <a:ext cx="2113404" cy="282569"/>
            </a:xfrm>
            <a:custGeom>
              <a:avLst/>
              <a:gdLst>
                <a:gd name="connsiteX0" fmla="*/ 0 w 2095706"/>
                <a:gd name="connsiteY0" fmla="*/ 0 h 296562"/>
                <a:gd name="connsiteX1" fmla="*/ 306447 w 2095706"/>
                <a:gd name="connsiteY1" fmla="*/ 0 h 296562"/>
                <a:gd name="connsiteX2" fmla="*/ 603009 w 2095706"/>
                <a:gd name="connsiteY2" fmla="*/ 296562 h 296562"/>
                <a:gd name="connsiteX3" fmla="*/ 1492696 w 2095706"/>
                <a:gd name="connsiteY3" fmla="*/ 296562 h 296562"/>
                <a:gd name="connsiteX4" fmla="*/ 1759602 w 2095706"/>
                <a:gd name="connsiteY4" fmla="*/ 29656 h 296562"/>
                <a:gd name="connsiteX5" fmla="*/ 2095706 w 2095706"/>
                <a:gd name="connsiteY5" fmla="*/ 29656 h 296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706" h="296562">
                  <a:moveTo>
                    <a:pt x="0" y="0"/>
                  </a:moveTo>
                  <a:lnTo>
                    <a:pt x="306447" y="0"/>
                  </a:lnTo>
                  <a:lnTo>
                    <a:pt x="603009" y="296562"/>
                  </a:lnTo>
                  <a:lnTo>
                    <a:pt x="1492696" y="296562"/>
                  </a:lnTo>
                  <a:lnTo>
                    <a:pt x="1759602" y="29656"/>
                  </a:lnTo>
                  <a:lnTo>
                    <a:pt x="2095706" y="29656"/>
                  </a:lnTo>
                </a:path>
              </a:pathLst>
            </a:custGeom>
            <a:solidFill>
              <a:sysClr val="window" lastClr="FFFFFF"/>
            </a:solidFill>
            <a:ln w="101600" cap="flat" cmpd="sng" algn="ctr">
              <a:solidFill>
                <a:srgbClr val="FF5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179" name="矩形 130">
              <a:extLst>
                <a:ext uri="{FF2B5EF4-FFF2-40B4-BE49-F238E27FC236}">
                  <a16:creationId xmlns:a16="http://schemas.microsoft.com/office/drawing/2014/main" id="{E2958C28-3F08-23F7-FFCD-1FEFBAA7F1C4}"/>
                </a:ext>
              </a:extLst>
            </p:cNvPr>
            <p:cNvSpPr/>
            <p:nvPr/>
          </p:nvSpPr>
          <p:spPr bwMode="auto">
            <a:xfrm>
              <a:off x="7013236" y="2813895"/>
              <a:ext cx="411173" cy="462410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180" name="矩形 131">
              <a:extLst>
                <a:ext uri="{FF2B5EF4-FFF2-40B4-BE49-F238E27FC236}">
                  <a16:creationId xmlns:a16="http://schemas.microsoft.com/office/drawing/2014/main" id="{43D0329E-44A4-4B52-343F-BEAFF471CD9E}"/>
                </a:ext>
              </a:extLst>
            </p:cNvPr>
            <p:cNvSpPr/>
            <p:nvPr/>
          </p:nvSpPr>
          <p:spPr bwMode="auto">
            <a:xfrm>
              <a:off x="8023096" y="2810534"/>
              <a:ext cx="411173" cy="462410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</p:grpSp>
      <p:grpSp>
        <p:nvGrpSpPr>
          <p:cNvPr id="183" name="群組 161">
            <a:extLst>
              <a:ext uri="{FF2B5EF4-FFF2-40B4-BE49-F238E27FC236}">
                <a16:creationId xmlns:a16="http://schemas.microsoft.com/office/drawing/2014/main" id="{DF709A8E-DD52-C8A3-9D1F-F5C526F460DE}"/>
              </a:ext>
            </a:extLst>
          </p:cNvPr>
          <p:cNvGrpSpPr/>
          <p:nvPr/>
        </p:nvGrpSpPr>
        <p:grpSpPr>
          <a:xfrm>
            <a:off x="2999752" y="4462653"/>
            <a:ext cx="1721364" cy="960912"/>
            <a:chOff x="3144742" y="2226133"/>
            <a:chExt cx="1721364" cy="825576"/>
          </a:xfrm>
        </p:grpSpPr>
        <p:grpSp>
          <p:nvGrpSpPr>
            <p:cNvPr id="184" name="群組 162">
              <a:extLst>
                <a:ext uri="{FF2B5EF4-FFF2-40B4-BE49-F238E27FC236}">
                  <a16:creationId xmlns:a16="http://schemas.microsoft.com/office/drawing/2014/main" id="{A7A893C2-843C-D5B0-FB52-FFF3B3BCE6FE}"/>
                </a:ext>
              </a:extLst>
            </p:cNvPr>
            <p:cNvGrpSpPr/>
            <p:nvPr/>
          </p:nvGrpSpPr>
          <p:grpSpPr>
            <a:xfrm>
              <a:off x="3144742" y="2226133"/>
              <a:ext cx="1721364" cy="779920"/>
              <a:chOff x="5454969" y="1618242"/>
              <a:chExt cx="3891182" cy="1595670"/>
            </a:xfrm>
          </p:grpSpPr>
          <p:grpSp>
            <p:nvGrpSpPr>
              <p:cNvPr id="189" name="群組 167">
                <a:extLst>
                  <a:ext uri="{FF2B5EF4-FFF2-40B4-BE49-F238E27FC236}">
                    <a16:creationId xmlns:a16="http://schemas.microsoft.com/office/drawing/2014/main" id="{2A2B7F48-5CA5-8870-C7E2-447EA26C331F}"/>
                  </a:ext>
                </a:extLst>
              </p:cNvPr>
              <p:cNvGrpSpPr/>
              <p:nvPr/>
            </p:nvGrpSpPr>
            <p:grpSpPr>
              <a:xfrm>
                <a:off x="5454969" y="1833330"/>
                <a:ext cx="3891182" cy="1380582"/>
                <a:chOff x="6656939" y="2496004"/>
                <a:chExt cx="2113405" cy="847807"/>
              </a:xfrm>
            </p:grpSpPr>
            <p:sp>
              <p:nvSpPr>
                <p:cNvPr id="196" name="矩形 174">
                  <a:extLst>
                    <a:ext uri="{FF2B5EF4-FFF2-40B4-BE49-F238E27FC236}">
                      <a16:creationId xmlns:a16="http://schemas.microsoft.com/office/drawing/2014/main" id="{3DF15182-BB3B-927D-3BE8-6827CB02DE8A}"/>
                    </a:ext>
                  </a:extLst>
                </p:cNvPr>
                <p:cNvSpPr/>
                <p:nvPr/>
              </p:nvSpPr>
              <p:spPr bwMode="auto">
                <a:xfrm>
                  <a:off x="6656941" y="2524831"/>
                  <a:ext cx="2113403" cy="288000"/>
                </a:xfrm>
                <a:prstGeom prst="rect">
                  <a:avLst/>
                </a:prstGeom>
                <a:solidFill>
                  <a:srgbClr val="A5A5A5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197" name="矩形 175">
                  <a:extLst>
                    <a:ext uri="{FF2B5EF4-FFF2-40B4-BE49-F238E27FC236}">
                      <a16:creationId xmlns:a16="http://schemas.microsoft.com/office/drawing/2014/main" id="{3B2FBCE0-8593-7AC6-21BA-1F32394E31A4}"/>
                    </a:ext>
                  </a:extLst>
                </p:cNvPr>
                <p:cNvSpPr/>
                <p:nvPr/>
              </p:nvSpPr>
              <p:spPr bwMode="auto">
                <a:xfrm>
                  <a:off x="6656940" y="2806303"/>
                  <a:ext cx="2113404" cy="537508"/>
                </a:xfrm>
                <a:prstGeom prst="rect">
                  <a:avLst/>
                </a:prstGeom>
                <a:solidFill>
                  <a:srgbClr val="A5A5A5">
                    <a:lumMod val="60000"/>
                    <a:lumOff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198" name="矩形 176">
                  <a:extLst>
                    <a:ext uri="{FF2B5EF4-FFF2-40B4-BE49-F238E27FC236}">
                      <a16:creationId xmlns:a16="http://schemas.microsoft.com/office/drawing/2014/main" id="{1DA48B43-5294-983D-5480-6C8F0B62CF1B}"/>
                    </a:ext>
                  </a:extLst>
                </p:cNvPr>
                <p:cNvSpPr/>
                <p:nvPr/>
              </p:nvSpPr>
              <p:spPr bwMode="auto">
                <a:xfrm>
                  <a:off x="7416862" y="2807015"/>
                  <a:ext cx="617007" cy="128648"/>
                </a:xfrm>
                <a:prstGeom prst="rect">
                  <a:avLst/>
                </a:prstGeom>
                <a:solidFill>
                  <a:srgbClr val="A5A5A5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199" name="矩形 177">
                  <a:extLst>
                    <a:ext uri="{FF2B5EF4-FFF2-40B4-BE49-F238E27FC236}">
                      <a16:creationId xmlns:a16="http://schemas.microsoft.com/office/drawing/2014/main" id="{F78588BB-6AA5-B6BF-22E8-FF109A9F3A9D}"/>
                    </a:ext>
                  </a:extLst>
                </p:cNvPr>
                <p:cNvSpPr/>
                <p:nvPr/>
              </p:nvSpPr>
              <p:spPr bwMode="auto">
                <a:xfrm>
                  <a:off x="7013236" y="2813895"/>
                  <a:ext cx="411173" cy="462410"/>
                </a:xfrm>
                <a:prstGeom prst="rect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rgbClr val="70AD47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200" name="矩形 178">
                  <a:extLst>
                    <a:ext uri="{FF2B5EF4-FFF2-40B4-BE49-F238E27FC236}">
                      <a16:creationId xmlns:a16="http://schemas.microsoft.com/office/drawing/2014/main" id="{1E9A3735-8CD1-2AA0-1DAE-4AA8E5FE59CA}"/>
                    </a:ext>
                  </a:extLst>
                </p:cNvPr>
                <p:cNvSpPr/>
                <p:nvPr/>
              </p:nvSpPr>
              <p:spPr bwMode="auto">
                <a:xfrm>
                  <a:off x="8023096" y="2810534"/>
                  <a:ext cx="411173" cy="462410"/>
                </a:xfrm>
                <a:prstGeom prst="rect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rgbClr val="70AD47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201" name="手繪多邊形 66">
                  <a:extLst>
                    <a:ext uri="{FF2B5EF4-FFF2-40B4-BE49-F238E27FC236}">
                      <a16:creationId xmlns:a16="http://schemas.microsoft.com/office/drawing/2014/main" id="{E1CB0700-B218-B57F-24CF-9DE59EEAC3EB}"/>
                    </a:ext>
                  </a:extLst>
                </p:cNvPr>
                <p:cNvSpPr/>
                <p:nvPr/>
              </p:nvSpPr>
              <p:spPr bwMode="auto">
                <a:xfrm>
                  <a:off x="6656939" y="2496004"/>
                  <a:ext cx="2113404" cy="282569"/>
                </a:xfrm>
                <a:custGeom>
                  <a:avLst/>
                  <a:gdLst>
                    <a:gd name="connsiteX0" fmla="*/ 0 w 2095706"/>
                    <a:gd name="connsiteY0" fmla="*/ 0 h 296562"/>
                    <a:gd name="connsiteX1" fmla="*/ 306447 w 2095706"/>
                    <a:gd name="connsiteY1" fmla="*/ 0 h 296562"/>
                    <a:gd name="connsiteX2" fmla="*/ 603009 w 2095706"/>
                    <a:gd name="connsiteY2" fmla="*/ 296562 h 296562"/>
                    <a:gd name="connsiteX3" fmla="*/ 1492696 w 2095706"/>
                    <a:gd name="connsiteY3" fmla="*/ 296562 h 296562"/>
                    <a:gd name="connsiteX4" fmla="*/ 1759602 w 2095706"/>
                    <a:gd name="connsiteY4" fmla="*/ 29656 h 296562"/>
                    <a:gd name="connsiteX5" fmla="*/ 2095706 w 2095706"/>
                    <a:gd name="connsiteY5" fmla="*/ 29656 h 296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706" h="296562">
                      <a:moveTo>
                        <a:pt x="0" y="0"/>
                      </a:moveTo>
                      <a:lnTo>
                        <a:pt x="306447" y="0"/>
                      </a:lnTo>
                      <a:lnTo>
                        <a:pt x="603009" y="296562"/>
                      </a:lnTo>
                      <a:lnTo>
                        <a:pt x="1492696" y="296562"/>
                      </a:lnTo>
                      <a:lnTo>
                        <a:pt x="1759602" y="29656"/>
                      </a:lnTo>
                      <a:lnTo>
                        <a:pt x="2095706" y="29656"/>
                      </a:lnTo>
                    </a:path>
                  </a:pathLst>
                </a:custGeom>
                <a:solidFill>
                  <a:sysClr val="window" lastClr="FFFFFF"/>
                </a:solidFill>
                <a:ln w="101600" cap="flat" cmpd="sng" algn="ctr">
                  <a:solidFill>
                    <a:srgbClr val="FF5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</p:grpSp>
          <p:grpSp>
            <p:nvGrpSpPr>
              <p:cNvPr id="190" name="群組 168">
                <a:extLst>
                  <a:ext uri="{FF2B5EF4-FFF2-40B4-BE49-F238E27FC236}">
                    <a16:creationId xmlns:a16="http://schemas.microsoft.com/office/drawing/2014/main" id="{010D16FE-A7BC-3961-4BE9-19196B1DCE01}"/>
                  </a:ext>
                </a:extLst>
              </p:cNvPr>
              <p:cNvGrpSpPr/>
              <p:nvPr/>
            </p:nvGrpSpPr>
            <p:grpSpPr>
              <a:xfrm>
                <a:off x="6608012" y="1618242"/>
                <a:ext cx="524540" cy="621075"/>
                <a:chOff x="1318434" y="1929287"/>
                <a:chExt cx="393404" cy="615547"/>
              </a:xfrm>
            </p:grpSpPr>
            <p:cxnSp>
              <p:nvCxnSpPr>
                <p:cNvPr id="194" name="直線接點 172">
                  <a:extLst>
                    <a:ext uri="{FF2B5EF4-FFF2-40B4-BE49-F238E27FC236}">
                      <a16:creationId xmlns:a16="http://schemas.microsoft.com/office/drawing/2014/main" id="{48F98825-3BD0-D579-BF89-2AAB12D2B333}"/>
                    </a:ext>
                  </a:extLst>
                </p:cNvPr>
                <p:cNvCxnSpPr/>
                <p:nvPr/>
              </p:nvCxnSpPr>
              <p:spPr>
                <a:xfrm>
                  <a:off x="1538477" y="2243052"/>
                  <a:ext cx="0" cy="30178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44546A"/>
                  </a:solidFill>
                  <a:prstDash val="solid"/>
                  <a:miter lim="800000"/>
                  <a:headEnd type="none"/>
                  <a:tailEnd type="none" w="lg" len="med"/>
                </a:ln>
                <a:effectLst/>
              </p:spPr>
            </p:cxnSp>
            <p:sp>
              <p:nvSpPr>
                <p:cNvPr id="195" name="圓形圖 69">
                  <a:extLst>
                    <a:ext uri="{FF2B5EF4-FFF2-40B4-BE49-F238E27FC236}">
                      <a16:creationId xmlns:a16="http://schemas.microsoft.com/office/drawing/2014/main" id="{8C3EF981-1D3B-F219-C30F-248144509CF2}"/>
                    </a:ext>
                  </a:extLst>
                </p:cNvPr>
                <p:cNvSpPr/>
                <p:nvPr/>
              </p:nvSpPr>
              <p:spPr bwMode="auto">
                <a:xfrm rot="19496728">
                  <a:off x="1318434" y="1929287"/>
                  <a:ext cx="393404" cy="465437"/>
                </a:xfrm>
                <a:prstGeom prst="pie">
                  <a:avLst/>
                </a:prstGeom>
                <a:solidFill>
                  <a:srgbClr val="FF643F"/>
                </a:solidFill>
                <a:ln w="12700" cap="flat" cmpd="sng" algn="ctr">
                  <a:solidFill>
                    <a:srgbClr val="FF3300"/>
                  </a:solidFill>
                  <a:prstDash val="solid"/>
                  <a:miter lim="800000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</p:grpSp>
          <p:grpSp>
            <p:nvGrpSpPr>
              <p:cNvPr id="191" name="群組 169">
                <a:extLst>
                  <a:ext uri="{FF2B5EF4-FFF2-40B4-BE49-F238E27FC236}">
                    <a16:creationId xmlns:a16="http://schemas.microsoft.com/office/drawing/2014/main" id="{864F339C-63BB-6F99-CF10-84116052011F}"/>
                  </a:ext>
                </a:extLst>
              </p:cNvPr>
              <p:cNvGrpSpPr/>
              <p:nvPr/>
            </p:nvGrpSpPr>
            <p:grpSpPr>
              <a:xfrm>
                <a:off x="7656702" y="1624199"/>
                <a:ext cx="524540" cy="621071"/>
                <a:chOff x="2104955" y="1935191"/>
                <a:chExt cx="393404" cy="615543"/>
              </a:xfrm>
            </p:grpSpPr>
            <p:cxnSp>
              <p:nvCxnSpPr>
                <p:cNvPr id="192" name="直線接點 170">
                  <a:extLst>
                    <a:ext uri="{FF2B5EF4-FFF2-40B4-BE49-F238E27FC236}">
                      <a16:creationId xmlns:a16="http://schemas.microsoft.com/office/drawing/2014/main" id="{04CA9978-735B-A190-CBDE-7930DD67799D}"/>
                    </a:ext>
                  </a:extLst>
                </p:cNvPr>
                <p:cNvCxnSpPr/>
                <p:nvPr/>
              </p:nvCxnSpPr>
              <p:spPr>
                <a:xfrm>
                  <a:off x="2324998" y="2248952"/>
                  <a:ext cx="0" cy="30178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44546A"/>
                  </a:solidFill>
                  <a:prstDash val="solid"/>
                  <a:miter lim="800000"/>
                  <a:headEnd type="none"/>
                  <a:tailEnd type="none" w="lg" len="med"/>
                </a:ln>
                <a:effectLst/>
              </p:spPr>
            </p:cxnSp>
            <p:sp>
              <p:nvSpPr>
                <p:cNvPr id="193" name="圓形圖 71">
                  <a:extLst>
                    <a:ext uri="{FF2B5EF4-FFF2-40B4-BE49-F238E27FC236}">
                      <a16:creationId xmlns:a16="http://schemas.microsoft.com/office/drawing/2014/main" id="{AF4D0CF3-09AA-E5F4-0A24-CC60DD07D938}"/>
                    </a:ext>
                  </a:extLst>
                </p:cNvPr>
                <p:cNvSpPr/>
                <p:nvPr/>
              </p:nvSpPr>
              <p:spPr bwMode="auto">
                <a:xfrm rot="19496728">
                  <a:off x="2104955" y="1935191"/>
                  <a:ext cx="393404" cy="465437"/>
                </a:xfrm>
                <a:prstGeom prst="pie">
                  <a:avLst/>
                </a:prstGeom>
                <a:solidFill>
                  <a:srgbClr val="FF643F"/>
                </a:solidFill>
                <a:ln w="12700" cap="flat" cmpd="sng" algn="ctr">
                  <a:solidFill>
                    <a:srgbClr val="FF3300"/>
                  </a:solidFill>
                  <a:prstDash val="solid"/>
                  <a:miter lim="800000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</p:grpSp>
        </p:grpSp>
        <p:sp>
          <p:nvSpPr>
            <p:cNvPr id="186" name="矩形 164">
              <a:extLst>
                <a:ext uri="{FF2B5EF4-FFF2-40B4-BE49-F238E27FC236}">
                  <a16:creationId xmlns:a16="http://schemas.microsoft.com/office/drawing/2014/main" id="{8ADC6C80-F503-8FE5-5946-44406E219B9B}"/>
                </a:ext>
              </a:extLst>
            </p:cNvPr>
            <p:cNvSpPr/>
            <p:nvPr/>
          </p:nvSpPr>
          <p:spPr>
            <a:xfrm>
              <a:off x="3659106" y="2512780"/>
              <a:ext cx="684000" cy="92789"/>
            </a:xfrm>
            <a:prstGeom prst="rect">
              <a:avLst/>
            </a:prstGeom>
            <a:solidFill>
              <a:srgbClr val="FFC000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cxnSp>
          <p:nvCxnSpPr>
            <p:cNvPr id="187" name="直線單箭頭接點 165">
              <a:extLst>
                <a:ext uri="{FF2B5EF4-FFF2-40B4-BE49-F238E27FC236}">
                  <a16:creationId xmlns:a16="http://schemas.microsoft.com/office/drawing/2014/main" id="{DC488C80-AB29-583D-CA23-698AC7DB39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2699" y="2525904"/>
              <a:ext cx="101756" cy="525805"/>
            </a:xfrm>
            <a:prstGeom prst="straightConnector1">
              <a:avLst/>
            </a:prstGeom>
            <a:noFill/>
            <a:ln w="1270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02" name="箭號: 有線條的向右箭號 91">
            <a:extLst>
              <a:ext uri="{FF2B5EF4-FFF2-40B4-BE49-F238E27FC236}">
                <a16:creationId xmlns:a16="http://schemas.microsoft.com/office/drawing/2014/main" id="{36374AB9-F13C-80B1-3C88-79FFD3963CC1}"/>
              </a:ext>
            </a:extLst>
          </p:cNvPr>
          <p:cNvSpPr/>
          <p:nvPr/>
        </p:nvSpPr>
        <p:spPr>
          <a:xfrm>
            <a:off x="2514278" y="4583553"/>
            <a:ext cx="474191" cy="403460"/>
          </a:xfrm>
          <a:prstGeom prst="stripedRightArrow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sp>
        <p:nvSpPr>
          <p:cNvPr id="203" name="文字方塊 47">
            <a:extLst>
              <a:ext uri="{FF2B5EF4-FFF2-40B4-BE49-F238E27FC236}">
                <a16:creationId xmlns:a16="http://schemas.microsoft.com/office/drawing/2014/main" id="{91F7079C-CEA3-12C1-9817-B5266D189D91}"/>
              </a:ext>
            </a:extLst>
          </p:cNvPr>
          <p:cNvSpPr txBox="1"/>
          <p:nvPr/>
        </p:nvSpPr>
        <p:spPr>
          <a:xfrm>
            <a:off x="2664541" y="5488814"/>
            <a:ext cx="257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標楷體"/>
                <a:cs typeface="+mn-cs"/>
              </a:rPr>
              <a:t>Proprietary bioprobe coating</a:t>
            </a:r>
          </a:p>
        </p:txBody>
      </p:sp>
      <p:grpSp>
        <p:nvGrpSpPr>
          <p:cNvPr id="206" name="群組 185">
            <a:extLst>
              <a:ext uri="{FF2B5EF4-FFF2-40B4-BE49-F238E27FC236}">
                <a16:creationId xmlns:a16="http://schemas.microsoft.com/office/drawing/2014/main" id="{B7F91B80-F651-22B0-242A-1275B3B67E6F}"/>
              </a:ext>
            </a:extLst>
          </p:cNvPr>
          <p:cNvGrpSpPr/>
          <p:nvPr/>
        </p:nvGrpSpPr>
        <p:grpSpPr>
          <a:xfrm>
            <a:off x="5403067" y="4170654"/>
            <a:ext cx="1721364" cy="1199771"/>
            <a:chOff x="5230531" y="1959754"/>
            <a:chExt cx="1721364" cy="1030794"/>
          </a:xfrm>
        </p:grpSpPr>
        <p:sp>
          <p:nvSpPr>
            <p:cNvPr id="209" name="橢圓 188">
              <a:extLst>
                <a:ext uri="{FF2B5EF4-FFF2-40B4-BE49-F238E27FC236}">
                  <a16:creationId xmlns:a16="http://schemas.microsoft.com/office/drawing/2014/main" id="{ABF05AB8-2A40-4414-993E-591697AEBFB3}"/>
                </a:ext>
              </a:extLst>
            </p:cNvPr>
            <p:cNvSpPr/>
            <p:nvPr/>
          </p:nvSpPr>
          <p:spPr bwMode="auto">
            <a:xfrm>
              <a:off x="5404873" y="1959754"/>
              <a:ext cx="1368374" cy="686755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grpSp>
          <p:nvGrpSpPr>
            <p:cNvPr id="210" name="群組 189">
              <a:extLst>
                <a:ext uri="{FF2B5EF4-FFF2-40B4-BE49-F238E27FC236}">
                  <a16:creationId xmlns:a16="http://schemas.microsoft.com/office/drawing/2014/main" id="{E9BC6F69-2467-5766-6F61-647602770BC5}"/>
                </a:ext>
              </a:extLst>
            </p:cNvPr>
            <p:cNvGrpSpPr/>
            <p:nvPr/>
          </p:nvGrpSpPr>
          <p:grpSpPr>
            <a:xfrm>
              <a:off x="5230531" y="2335376"/>
              <a:ext cx="1721364" cy="655172"/>
              <a:chOff x="6656939" y="2496004"/>
              <a:chExt cx="2113405" cy="847807"/>
            </a:xfrm>
          </p:grpSpPr>
          <p:sp>
            <p:nvSpPr>
              <p:cNvPr id="219" name="矩形 199">
                <a:extLst>
                  <a:ext uri="{FF2B5EF4-FFF2-40B4-BE49-F238E27FC236}">
                    <a16:creationId xmlns:a16="http://schemas.microsoft.com/office/drawing/2014/main" id="{C09E9651-B9DA-43AC-C4D7-D8854BD3B7F5}"/>
                  </a:ext>
                </a:extLst>
              </p:cNvPr>
              <p:cNvSpPr/>
              <p:nvPr/>
            </p:nvSpPr>
            <p:spPr bwMode="auto">
              <a:xfrm>
                <a:off x="6656941" y="2524831"/>
                <a:ext cx="2113403" cy="288000"/>
              </a:xfrm>
              <a:prstGeom prst="rect">
                <a:avLst/>
              </a:prstGeom>
              <a:solidFill>
                <a:srgbClr val="A5A5A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  <p:sp>
            <p:nvSpPr>
              <p:cNvPr id="220" name="矩形 200">
                <a:extLst>
                  <a:ext uri="{FF2B5EF4-FFF2-40B4-BE49-F238E27FC236}">
                    <a16:creationId xmlns:a16="http://schemas.microsoft.com/office/drawing/2014/main" id="{5DC55DE9-2571-7BE9-B47C-AFD03C1788A1}"/>
                  </a:ext>
                </a:extLst>
              </p:cNvPr>
              <p:cNvSpPr/>
              <p:nvPr/>
            </p:nvSpPr>
            <p:spPr bwMode="auto">
              <a:xfrm>
                <a:off x="6656940" y="2806303"/>
                <a:ext cx="2113404" cy="537508"/>
              </a:xfrm>
              <a:prstGeom prst="rect">
                <a:avLst/>
              </a:prstGeom>
              <a:solidFill>
                <a:srgbClr val="A5A5A5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  <p:sp>
            <p:nvSpPr>
              <p:cNvPr id="221" name="矩形 201">
                <a:extLst>
                  <a:ext uri="{FF2B5EF4-FFF2-40B4-BE49-F238E27FC236}">
                    <a16:creationId xmlns:a16="http://schemas.microsoft.com/office/drawing/2014/main" id="{A18048F6-BE9A-DC4A-ACA3-6BE69A79FD67}"/>
                  </a:ext>
                </a:extLst>
              </p:cNvPr>
              <p:cNvSpPr/>
              <p:nvPr/>
            </p:nvSpPr>
            <p:spPr bwMode="auto">
              <a:xfrm>
                <a:off x="7416862" y="2807015"/>
                <a:ext cx="617007" cy="128648"/>
              </a:xfrm>
              <a:prstGeom prst="rect">
                <a:avLst/>
              </a:prstGeom>
              <a:solidFill>
                <a:srgbClr val="A5A5A5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  <p:sp>
            <p:nvSpPr>
              <p:cNvPr id="222" name="手繪多邊形 66">
                <a:extLst>
                  <a:ext uri="{FF2B5EF4-FFF2-40B4-BE49-F238E27FC236}">
                    <a16:creationId xmlns:a16="http://schemas.microsoft.com/office/drawing/2014/main" id="{897185F0-F7FE-5C81-1B2C-0276CA5A9F24}"/>
                  </a:ext>
                </a:extLst>
              </p:cNvPr>
              <p:cNvSpPr/>
              <p:nvPr/>
            </p:nvSpPr>
            <p:spPr bwMode="auto">
              <a:xfrm>
                <a:off x="6656939" y="2496004"/>
                <a:ext cx="2113404" cy="282569"/>
              </a:xfrm>
              <a:custGeom>
                <a:avLst/>
                <a:gdLst>
                  <a:gd name="connsiteX0" fmla="*/ 0 w 2095706"/>
                  <a:gd name="connsiteY0" fmla="*/ 0 h 296562"/>
                  <a:gd name="connsiteX1" fmla="*/ 306447 w 2095706"/>
                  <a:gd name="connsiteY1" fmla="*/ 0 h 296562"/>
                  <a:gd name="connsiteX2" fmla="*/ 603009 w 2095706"/>
                  <a:gd name="connsiteY2" fmla="*/ 296562 h 296562"/>
                  <a:gd name="connsiteX3" fmla="*/ 1492696 w 2095706"/>
                  <a:gd name="connsiteY3" fmla="*/ 296562 h 296562"/>
                  <a:gd name="connsiteX4" fmla="*/ 1759602 w 2095706"/>
                  <a:gd name="connsiteY4" fmla="*/ 29656 h 296562"/>
                  <a:gd name="connsiteX5" fmla="*/ 2095706 w 2095706"/>
                  <a:gd name="connsiteY5" fmla="*/ 29656 h 296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706" h="296562">
                    <a:moveTo>
                      <a:pt x="0" y="0"/>
                    </a:moveTo>
                    <a:lnTo>
                      <a:pt x="306447" y="0"/>
                    </a:lnTo>
                    <a:lnTo>
                      <a:pt x="603009" y="296562"/>
                    </a:lnTo>
                    <a:lnTo>
                      <a:pt x="1492696" y="296562"/>
                    </a:lnTo>
                    <a:lnTo>
                      <a:pt x="1759602" y="29656"/>
                    </a:lnTo>
                    <a:lnTo>
                      <a:pt x="2095706" y="29656"/>
                    </a:lnTo>
                  </a:path>
                </a:pathLst>
              </a:custGeom>
              <a:solidFill>
                <a:srgbClr val="DAE3F3"/>
              </a:solidFill>
              <a:ln w="101600" cap="flat" cmpd="sng" algn="ctr">
                <a:solidFill>
                  <a:srgbClr val="FF505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  <p:sp>
            <p:nvSpPr>
              <p:cNvPr id="223" name="矩形 203">
                <a:extLst>
                  <a:ext uri="{FF2B5EF4-FFF2-40B4-BE49-F238E27FC236}">
                    <a16:creationId xmlns:a16="http://schemas.microsoft.com/office/drawing/2014/main" id="{C7A46B6D-2BC8-C04D-AB7B-37E41699A051}"/>
                  </a:ext>
                </a:extLst>
              </p:cNvPr>
              <p:cNvSpPr/>
              <p:nvPr/>
            </p:nvSpPr>
            <p:spPr bwMode="auto">
              <a:xfrm>
                <a:off x="7013236" y="2813895"/>
                <a:ext cx="411173" cy="462410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  <p:sp>
            <p:nvSpPr>
              <p:cNvPr id="224" name="矩形 204">
                <a:extLst>
                  <a:ext uri="{FF2B5EF4-FFF2-40B4-BE49-F238E27FC236}">
                    <a16:creationId xmlns:a16="http://schemas.microsoft.com/office/drawing/2014/main" id="{5F5DDDED-85B6-3BE4-1BD7-A2E38D051738}"/>
                  </a:ext>
                </a:extLst>
              </p:cNvPr>
              <p:cNvSpPr/>
              <p:nvPr/>
            </p:nvSpPr>
            <p:spPr bwMode="auto">
              <a:xfrm>
                <a:off x="8023096" y="2810534"/>
                <a:ext cx="411173" cy="462410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</p:grpSp>
        <p:grpSp>
          <p:nvGrpSpPr>
            <p:cNvPr id="211" name="群組 190">
              <a:extLst>
                <a:ext uri="{FF2B5EF4-FFF2-40B4-BE49-F238E27FC236}">
                  <a16:creationId xmlns:a16="http://schemas.microsoft.com/office/drawing/2014/main" id="{583BC8D5-4421-286C-7516-D582AE104B0D}"/>
                </a:ext>
              </a:extLst>
            </p:cNvPr>
            <p:cNvGrpSpPr/>
            <p:nvPr/>
          </p:nvGrpSpPr>
          <p:grpSpPr>
            <a:xfrm>
              <a:off x="5740609" y="2222049"/>
              <a:ext cx="232044" cy="299063"/>
              <a:chOff x="1318434" y="1905779"/>
              <a:chExt cx="393404" cy="624577"/>
            </a:xfrm>
          </p:grpSpPr>
          <p:cxnSp>
            <p:nvCxnSpPr>
              <p:cNvPr id="217" name="直線接點 197">
                <a:extLst>
                  <a:ext uri="{FF2B5EF4-FFF2-40B4-BE49-F238E27FC236}">
                    <a16:creationId xmlns:a16="http://schemas.microsoft.com/office/drawing/2014/main" id="{920971DD-E39B-AF09-C885-C98B1F25B55D}"/>
                  </a:ext>
                </a:extLst>
              </p:cNvPr>
              <p:cNvCxnSpPr/>
              <p:nvPr/>
            </p:nvCxnSpPr>
            <p:spPr>
              <a:xfrm>
                <a:off x="1538477" y="2219537"/>
                <a:ext cx="0" cy="310819"/>
              </a:xfrm>
              <a:prstGeom prst="line">
                <a:avLst/>
              </a:prstGeom>
              <a:noFill/>
              <a:ln w="28575" cap="flat" cmpd="sng" algn="ctr">
                <a:solidFill>
                  <a:srgbClr val="44546A"/>
                </a:solidFill>
                <a:prstDash val="solid"/>
                <a:miter lim="800000"/>
                <a:headEnd type="none"/>
                <a:tailEnd type="none" w="lg" len="med"/>
              </a:ln>
              <a:effectLst/>
            </p:spPr>
          </p:cxnSp>
          <p:sp>
            <p:nvSpPr>
              <p:cNvPr id="218" name="圓形圖 69">
                <a:extLst>
                  <a:ext uri="{FF2B5EF4-FFF2-40B4-BE49-F238E27FC236}">
                    <a16:creationId xmlns:a16="http://schemas.microsoft.com/office/drawing/2014/main" id="{13E34FAD-B2AD-CFF3-FDD6-5335A86BDD38}"/>
                  </a:ext>
                </a:extLst>
              </p:cNvPr>
              <p:cNvSpPr/>
              <p:nvPr/>
            </p:nvSpPr>
            <p:spPr bwMode="auto">
              <a:xfrm rot="19496728">
                <a:off x="1318434" y="1905779"/>
                <a:ext cx="393404" cy="465437"/>
              </a:xfrm>
              <a:prstGeom prst="pie">
                <a:avLst/>
              </a:prstGeom>
              <a:solidFill>
                <a:srgbClr val="FF643F"/>
              </a:solidFill>
              <a:ln w="12700" cap="flat" cmpd="sng" algn="ctr">
                <a:solidFill>
                  <a:srgbClr val="FF3300"/>
                </a:solidFill>
                <a:prstDash val="solid"/>
                <a:miter lim="800000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</p:grpSp>
        <p:grpSp>
          <p:nvGrpSpPr>
            <p:cNvPr id="212" name="群組 191">
              <a:extLst>
                <a:ext uri="{FF2B5EF4-FFF2-40B4-BE49-F238E27FC236}">
                  <a16:creationId xmlns:a16="http://schemas.microsoft.com/office/drawing/2014/main" id="{4958D83C-E978-F9E4-C1E2-749278AD3697}"/>
                </a:ext>
              </a:extLst>
            </p:cNvPr>
            <p:cNvGrpSpPr/>
            <p:nvPr/>
          </p:nvGrpSpPr>
          <p:grpSpPr>
            <a:xfrm>
              <a:off x="6204525" y="2224876"/>
              <a:ext cx="232044" cy="299063"/>
              <a:chOff x="2104955" y="1911683"/>
              <a:chExt cx="393404" cy="624577"/>
            </a:xfrm>
          </p:grpSpPr>
          <p:cxnSp>
            <p:nvCxnSpPr>
              <p:cNvPr id="215" name="直線接點 195">
                <a:extLst>
                  <a:ext uri="{FF2B5EF4-FFF2-40B4-BE49-F238E27FC236}">
                    <a16:creationId xmlns:a16="http://schemas.microsoft.com/office/drawing/2014/main" id="{2C1C785B-168B-9B2B-EDDF-BD42D761FFA6}"/>
                  </a:ext>
                </a:extLst>
              </p:cNvPr>
              <p:cNvCxnSpPr/>
              <p:nvPr/>
            </p:nvCxnSpPr>
            <p:spPr>
              <a:xfrm>
                <a:off x="2324998" y="2225441"/>
                <a:ext cx="0" cy="310819"/>
              </a:xfrm>
              <a:prstGeom prst="line">
                <a:avLst/>
              </a:prstGeom>
              <a:noFill/>
              <a:ln w="28575" cap="flat" cmpd="sng" algn="ctr">
                <a:solidFill>
                  <a:srgbClr val="44546A"/>
                </a:solidFill>
                <a:prstDash val="solid"/>
                <a:miter lim="800000"/>
                <a:headEnd type="none"/>
                <a:tailEnd type="none" w="lg" len="med"/>
              </a:ln>
              <a:effectLst/>
            </p:spPr>
          </p:cxnSp>
          <p:sp>
            <p:nvSpPr>
              <p:cNvPr id="216" name="圓形圖 71">
                <a:extLst>
                  <a:ext uri="{FF2B5EF4-FFF2-40B4-BE49-F238E27FC236}">
                    <a16:creationId xmlns:a16="http://schemas.microsoft.com/office/drawing/2014/main" id="{6450445B-9F6A-DFF4-A8CA-D3F6E11FF4B4}"/>
                  </a:ext>
                </a:extLst>
              </p:cNvPr>
              <p:cNvSpPr/>
              <p:nvPr/>
            </p:nvSpPr>
            <p:spPr bwMode="auto">
              <a:xfrm rot="19496728">
                <a:off x="2104955" y="1911683"/>
                <a:ext cx="393404" cy="465437"/>
              </a:xfrm>
              <a:prstGeom prst="pie">
                <a:avLst/>
              </a:prstGeom>
              <a:solidFill>
                <a:srgbClr val="FF643F"/>
              </a:solidFill>
              <a:ln w="12700" cap="flat" cmpd="sng" algn="ctr">
                <a:solidFill>
                  <a:srgbClr val="FF3300"/>
                </a:solidFill>
                <a:prstDash val="solid"/>
                <a:miter lim="800000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</p:grpSp>
        <p:sp>
          <p:nvSpPr>
            <p:cNvPr id="213" name="菱形 192">
              <a:extLst>
                <a:ext uri="{FF2B5EF4-FFF2-40B4-BE49-F238E27FC236}">
                  <a16:creationId xmlns:a16="http://schemas.microsoft.com/office/drawing/2014/main" id="{1787A0B1-AA6E-650E-BA28-C033D3DE1B23}"/>
                </a:ext>
              </a:extLst>
            </p:cNvPr>
            <p:cNvSpPr/>
            <p:nvPr/>
          </p:nvSpPr>
          <p:spPr>
            <a:xfrm rot="889753">
              <a:off x="6277179" y="2019229"/>
              <a:ext cx="206901" cy="180993"/>
            </a:xfrm>
            <a:prstGeom prst="diamond">
              <a:avLst/>
            </a:prstGeom>
            <a:solidFill>
              <a:srgbClr val="FF99FF"/>
            </a:solidFill>
            <a:ln w="12700" cap="flat" cmpd="sng" algn="ctr">
              <a:solidFill>
                <a:srgbClr val="ED7D31">
                  <a:shade val="15000"/>
                </a:srgbClr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214" name="橢圓 193">
              <a:extLst>
                <a:ext uri="{FF2B5EF4-FFF2-40B4-BE49-F238E27FC236}">
                  <a16:creationId xmlns:a16="http://schemas.microsoft.com/office/drawing/2014/main" id="{BF332135-BF48-8C62-6809-9F8A7111F4EB}"/>
                </a:ext>
              </a:extLst>
            </p:cNvPr>
            <p:cNvSpPr/>
            <p:nvPr/>
          </p:nvSpPr>
          <p:spPr>
            <a:xfrm>
              <a:off x="5788116" y="2024813"/>
              <a:ext cx="236996" cy="139195"/>
            </a:xfrm>
            <a:prstGeom prst="ellipse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</p:grpSp>
      <p:sp>
        <p:nvSpPr>
          <p:cNvPr id="225" name="矩形 50">
            <a:extLst>
              <a:ext uri="{FF2B5EF4-FFF2-40B4-BE49-F238E27FC236}">
                <a16:creationId xmlns:a16="http://schemas.microsoft.com/office/drawing/2014/main" id="{DB054CA7-6416-5E0F-DFB3-10D6FAD7ADB0}"/>
              </a:ext>
            </a:extLst>
          </p:cNvPr>
          <p:cNvSpPr/>
          <p:nvPr/>
        </p:nvSpPr>
        <p:spPr>
          <a:xfrm>
            <a:off x="5340152" y="3843261"/>
            <a:ext cx="1596622" cy="188863"/>
          </a:xfrm>
          <a:prstGeom prst="rect">
            <a:avLst/>
          </a:prstGeom>
          <a:solidFill>
            <a:srgbClr val="FFFF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kern="0" dirty="0">
                <a:solidFill>
                  <a:srgbClr val="FF0000"/>
                </a:solidFill>
                <a:latin typeface="Calibri"/>
                <a:ea typeface="標楷體"/>
              </a:rPr>
              <a:t>Apply Sample</a:t>
            </a:r>
            <a:endParaRPr kumimoji="0" lang="zh-TW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sp>
        <p:nvSpPr>
          <p:cNvPr id="226" name="文字方塊 73">
            <a:extLst>
              <a:ext uri="{FF2B5EF4-FFF2-40B4-BE49-F238E27FC236}">
                <a16:creationId xmlns:a16="http://schemas.microsoft.com/office/drawing/2014/main" id="{0CA62F82-B1F8-51DB-6979-3441D308A2A2}"/>
              </a:ext>
            </a:extLst>
          </p:cNvPr>
          <p:cNvSpPr txBox="1"/>
          <p:nvPr/>
        </p:nvSpPr>
        <p:spPr>
          <a:xfrm>
            <a:off x="5340152" y="5431474"/>
            <a:ext cx="18662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標楷體"/>
                <a:cs typeface="+mn-cs"/>
              </a:rPr>
              <a:t>Any molecule that carries electric charges</a:t>
            </a:r>
          </a:p>
        </p:txBody>
      </p:sp>
      <p:pic>
        <p:nvPicPr>
          <p:cNvPr id="227" name="圖片 9" descr="一張含有 工具 的圖片&#10;&#10;自動產生的描述">
            <a:extLst>
              <a:ext uri="{FF2B5EF4-FFF2-40B4-BE49-F238E27FC236}">
                <a16:creationId xmlns:a16="http://schemas.microsoft.com/office/drawing/2014/main" id="{A2A4F925-0A71-D915-70F0-0E718C8E16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9124" y="1318044"/>
            <a:ext cx="1346659" cy="1227856"/>
          </a:xfrm>
          <a:prstGeom prst="rect">
            <a:avLst/>
          </a:prstGeom>
        </p:spPr>
      </p:pic>
      <p:pic>
        <p:nvPicPr>
          <p:cNvPr id="228" name="圖片 8" descr="一張含有 圖形, 設計 的圖片&#10;&#10;自動產生的描述">
            <a:extLst>
              <a:ext uri="{FF2B5EF4-FFF2-40B4-BE49-F238E27FC236}">
                <a16:creationId xmlns:a16="http://schemas.microsoft.com/office/drawing/2014/main" id="{CE9157C2-E370-1F30-F98D-86D3854F448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5177" y="2556879"/>
            <a:ext cx="386514" cy="493923"/>
          </a:xfrm>
          <a:prstGeom prst="rect">
            <a:avLst/>
          </a:prstGeom>
        </p:spPr>
      </p:pic>
      <p:pic>
        <p:nvPicPr>
          <p:cNvPr id="229" name="圖片 53">
            <a:extLst>
              <a:ext uri="{FF2B5EF4-FFF2-40B4-BE49-F238E27FC236}">
                <a16:creationId xmlns:a16="http://schemas.microsoft.com/office/drawing/2014/main" id="{AFD4A31E-D4B5-EB3B-0E4D-62671F78834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942229" y="2522538"/>
            <a:ext cx="306695" cy="1510244"/>
          </a:xfrm>
          <a:prstGeom prst="rect">
            <a:avLst/>
          </a:prstGeom>
        </p:spPr>
      </p:pic>
      <p:grpSp>
        <p:nvGrpSpPr>
          <p:cNvPr id="232" name="群組 135">
            <a:extLst>
              <a:ext uri="{FF2B5EF4-FFF2-40B4-BE49-F238E27FC236}">
                <a16:creationId xmlns:a16="http://schemas.microsoft.com/office/drawing/2014/main" id="{3EA1EAB9-827E-B7B5-55C4-BD95EA612336}"/>
              </a:ext>
            </a:extLst>
          </p:cNvPr>
          <p:cNvGrpSpPr/>
          <p:nvPr/>
        </p:nvGrpSpPr>
        <p:grpSpPr>
          <a:xfrm>
            <a:off x="7688033" y="4187985"/>
            <a:ext cx="1721364" cy="1216609"/>
            <a:chOff x="9192907" y="1758847"/>
            <a:chExt cx="2444722" cy="2022706"/>
          </a:xfrm>
        </p:grpSpPr>
        <p:sp>
          <p:nvSpPr>
            <p:cNvPr id="233" name="橢圓 137">
              <a:extLst>
                <a:ext uri="{FF2B5EF4-FFF2-40B4-BE49-F238E27FC236}">
                  <a16:creationId xmlns:a16="http://schemas.microsoft.com/office/drawing/2014/main" id="{5B185C30-3E77-91F9-9D5D-693A61957F80}"/>
                </a:ext>
              </a:extLst>
            </p:cNvPr>
            <p:cNvSpPr/>
            <p:nvPr/>
          </p:nvSpPr>
          <p:spPr bwMode="auto">
            <a:xfrm>
              <a:off x="9440510" y="1758847"/>
              <a:ext cx="1943397" cy="1297919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grpSp>
          <p:nvGrpSpPr>
            <p:cNvPr id="234" name="群組 138">
              <a:extLst>
                <a:ext uri="{FF2B5EF4-FFF2-40B4-BE49-F238E27FC236}">
                  <a16:creationId xmlns:a16="http://schemas.microsoft.com/office/drawing/2014/main" id="{9D689D3B-1890-3999-B491-3066EFC8474B}"/>
                </a:ext>
              </a:extLst>
            </p:cNvPr>
            <p:cNvGrpSpPr/>
            <p:nvPr/>
          </p:nvGrpSpPr>
          <p:grpSpPr>
            <a:xfrm>
              <a:off x="9192907" y="2468748"/>
              <a:ext cx="2444722" cy="1312805"/>
              <a:chOff x="455343" y="2091974"/>
              <a:chExt cx="2918385" cy="1450702"/>
            </a:xfrm>
          </p:grpSpPr>
          <p:grpSp>
            <p:nvGrpSpPr>
              <p:cNvPr id="244" name="群組 148">
                <a:extLst>
                  <a:ext uri="{FF2B5EF4-FFF2-40B4-BE49-F238E27FC236}">
                    <a16:creationId xmlns:a16="http://schemas.microsoft.com/office/drawing/2014/main" id="{B5FDC057-0685-B0A6-BB40-39AACD6474AE}"/>
                  </a:ext>
                </a:extLst>
              </p:cNvPr>
              <p:cNvGrpSpPr/>
              <p:nvPr/>
            </p:nvGrpSpPr>
            <p:grpSpPr>
              <a:xfrm>
                <a:off x="455343" y="2091974"/>
                <a:ext cx="2918385" cy="1368292"/>
                <a:chOff x="6656939" y="2496004"/>
                <a:chExt cx="2113405" cy="847807"/>
              </a:xfrm>
            </p:grpSpPr>
            <p:sp>
              <p:nvSpPr>
                <p:cNvPr id="249" name="矩形 153">
                  <a:extLst>
                    <a:ext uri="{FF2B5EF4-FFF2-40B4-BE49-F238E27FC236}">
                      <a16:creationId xmlns:a16="http://schemas.microsoft.com/office/drawing/2014/main" id="{6233C306-FD34-1956-D3BD-E6AC9C42D227}"/>
                    </a:ext>
                  </a:extLst>
                </p:cNvPr>
                <p:cNvSpPr/>
                <p:nvPr/>
              </p:nvSpPr>
              <p:spPr bwMode="auto">
                <a:xfrm>
                  <a:off x="6656941" y="2524831"/>
                  <a:ext cx="2113403" cy="288000"/>
                </a:xfrm>
                <a:prstGeom prst="rect">
                  <a:avLst/>
                </a:prstGeom>
                <a:solidFill>
                  <a:srgbClr val="A5A5A5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250" name="矩形 154">
                  <a:extLst>
                    <a:ext uri="{FF2B5EF4-FFF2-40B4-BE49-F238E27FC236}">
                      <a16:creationId xmlns:a16="http://schemas.microsoft.com/office/drawing/2014/main" id="{F46AF827-D68D-A797-01AF-474AAB78EF9A}"/>
                    </a:ext>
                  </a:extLst>
                </p:cNvPr>
                <p:cNvSpPr/>
                <p:nvPr/>
              </p:nvSpPr>
              <p:spPr bwMode="auto">
                <a:xfrm>
                  <a:off x="6656940" y="2806303"/>
                  <a:ext cx="2113404" cy="537508"/>
                </a:xfrm>
                <a:prstGeom prst="rect">
                  <a:avLst/>
                </a:prstGeom>
                <a:solidFill>
                  <a:srgbClr val="A5A5A5">
                    <a:lumMod val="60000"/>
                    <a:lumOff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251" name="矩形 155">
                  <a:extLst>
                    <a:ext uri="{FF2B5EF4-FFF2-40B4-BE49-F238E27FC236}">
                      <a16:creationId xmlns:a16="http://schemas.microsoft.com/office/drawing/2014/main" id="{E0B198D0-E903-9A41-CBEE-6159313805FA}"/>
                    </a:ext>
                  </a:extLst>
                </p:cNvPr>
                <p:cNvSpPr/>
                <p:nvPr/>
              </p:nvSpPr>
              <p:spPr bwMode="auto">
                <a:xfrm>
                  <a:off x="7416862" y="2807015"/>
                  <a:ext cx="617007" cy="128648"/>
                </a:xfrm>
                <a:prstGeom prst="rect">
                  <a:avLst/>
                </a:prstGeom>
                <a:solidFill>
                  <a:srgbClr val="A5A5A5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252" name="手繪多邊形 66">
                  <a:extLst>
                    <a:ext uri="{FF2B5EF4-FFF2-40B4-BE49-F238E27FC236}">
                      <a16:creationId xmlns:a16="http://schemas.microsoft.com/office/drawing/2014/main" id="{2476E3D8-C201-4ECF-C76E-52DB04A2605A}"/>
                    </a:ext>
                  </a:extLst>
                </p:cNvPr>
                <p:cNvSpPr/>
                <p:nvPr/>
              </p:nvSpPr>
              <p:spPr bwMode="auto">
                <a:xfrm>
                  <a:off x="6656939" y="2496004"/>
                  <a:ext cx="2113404" cy="282569"/>
                </a:xfrm>
                <a:custGeom>
                  <a:avLst/>
                  <a:gdLst>
                    <a:gd name="connsiteX0" fmla="*/ 0 w 2095706"/>
                    <a:gd name="connsiteY0" fmla="*/ 0 h 296562"/>
                    <a:gd name="connsiteX1" fmla="*/ 306447 w 2095706"/>
                    <a:gd name="connsiteY1" fmla="*/ 0 h 296562"/>
                    <a:gd name="connsiteX2" fmla="*/ 603009 w 2095706"/>
                    <a:gd name="connsiteY2" fmla="*/ 296562 h 296562"/>
                    <a:gd name="connsiteX3" fmla="*/ 1492696 w 2095706"/>
                    <a:gd name="connsiteY3" fmla="*/ 296562 h 296562"/>
                    <a:gd name="connsiteX4" fmla="*/ 1759602 w 2095706"/>
                    <a:gd name="connsiteY4" fmla="*/ 29656 h 296562"/>
                    <a:gd name="connsiteX5" fmla="*/ 2095706 w 2095706"/>
                    <a:gd name="connsiteY5" fmla="*/ 29656 h 296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706" h="296562">
                      <a:moveTo>
                        <a:pt x="0" y="0"/>
                      </a:moveTo>
                      <a:lnTo>
                        <a:pt x="306447" y="0"/>
                      </a:lnTo>
                      <a:lnTo>
                        <a:pt x="603009" y="296562"/>
                      </a:lnTo>
                      <a:lnTo>
                        <a:pt x="1492696" y="296562"/>
                      </a:lnTo>
                      <a:lnTo>
                        <a:pt x="1759602" y="29656"/>
                      </a:lnTo>
                      <a:lnTo>
                        <a:pt x="2095706" y="29656"/>
                      </a:lnTo>
                    </a:path>
                  </a:pathLst>
                </a:custGeom>
                <a:solidFill>
                  <a:srgbClr val="DAE3F3"/>
                </a:solidFill>
                <a:ln w="101600" cap="flat" cmpd="sng" algn="ctr">
                  <a:solidFill>
                    <a:srgbClr val="FF5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253" name="矩形 157">
                  <a:extLst>
                    <a:ext uri="{FF2B5EF4-FFF2-40B4-BE49-F238E27FC236}">
                      <a16:creationId xmlns:a16="http://schemas.microsoft.com/office/drawing/2014/main" id="{69CC94EF-5FBC-F03C-16C4-EB7BB5AAA223}"/>
                    </a:ext>
                  </a:extLst>
                </p:cNvPr>
                <p:cNvSpPr/>
                <p:nvPr/>
              </p:nvSpPr>
              <p:spPr bwMode="auto">
                <a:xfrm>
                  <a:off x="7013236" y="2813895"/>
                  <a:ext cx="411173" cy="462410"/>
                </a:xfrm>
                <a:prstGeom prst="rect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rgbClr val="70AD47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  <p:sp>
              <p:nvSpPr>
                <p:cNvPr id="254" name="矩形 158">
                  <a:extLst>
                    <a:ext uri="{FF2B5EF4-FFF2-40B4-BE49-F238E27FC236}">
                      <a16:creationId xmlns:a16="http://schemas.microsoft.com/office/drawing/2014/main" id="{7D582E2D-8D0D-90C1-F724-DB8F58357862}"/>
                    </a:ext>
                  </a:extLst>
                </p:cNvPr>
                <p:cNvSpPr/>
                <p:nvPr/>
              </p:nvSpPr>
              <p:spPr bwMode="auto">
                <a:xfrm>
                  <a:off x="8023096" y="2810534"/>
                  <a:ext cx="411173" cy="462410"/>
                </a:xfrm>
                <a:prstGeom prst="rect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rgbClr val="70AD47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標楷體"/>
                    <a:cs typeface="+mn-cs"/>
                  </a:endParaRPr>
                </a:p>
              </p:txBody>
            </p:sp>
          </p:grpSp>
          <p:grpSp>
            <p:nvGrpSpPr>
              <p:cNvPr id="245" name="群組 149">
                <a:extLst>
                  <a:ext uri="{FF2B5EF4-FFF2-40B4-BE49-F238E27FC236}">
                    <a16:creationId xmlns:a16="http://schemas.microsoft.com/office/drawing/2014/main" id="{D905C117-259D-9CD4-7D4B-B0125E2706B7}"/>
                  </a:ext>
                </a:extLst>
              </p:cNvPr>
              <p:cNvGrpSpPr/>
              <p:nvPr/>
            </p:nvGrpSpPr>
            <p:grpSpPr>
              <a:xfrm>
                <a:off x="1421049" y="2983253"/>
                <a:ext cx="1070411" cy="559423"/>
                <a:chOff x="648214" y="4129924"/>
                <a:chExt cx="1070411" cy="559423"/>
              </a:xfrm>
            </p:grpSpPr>
            <p:sp>
              <p:nvSpPr>
                <p:cNvPr id="247" name="橢圓 151">
                  <a:extLst>
                    <a:ext uri="{FF2B5EF4-FFF2-40B4-BE49-F238E27FC236}">
                      <a16:creationId xmlns:a16="http://schemas.microsoft.com/office/drawing/2014/main" id="{C7C0A595-B2F0-C32C-4AD1-48DE6EFDC267}"/>
                    </a:ext>
                  </a:extLst>
                </p:cNvPr>
                <p:cNvSpPr/>
                <p:nvPr/>
              </p:nvSpPr>
              <p:spPr>
                <a:xfrm>
                  <a:off x="996393" y="4137343"/>
                  <a:ext cx="351557" cy="397026"/>
                </a:xfrm>
                <a:prstGeom prst="ellipse">
                  <a:avLst/>
                </a:prstGeom>
                <a:solidFill>
                  <a:srgbClr val="FFC000">
                    <a:lumMod val="60000"/>
                    <a:lumOff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 Light" panose="020B0304030504040204" pitchFamily="34" charset="-120"/>
                    <a:cs typeface="+mn-cs"/>
                  </a:endParaRPr>
                </a:p>
              </p:txBody>
            </p:sp>
            <p:sp>
              <p:nvSpPr>
                <p:cNvPr id="248" name="文字方塊 152">
                  <a:extLst>
                    <a:ext uri="{FF2B5EF4-FFF2-40B4-BE49-F238E27FC236}">
                      <a16:creationId xmlns:a16="http://schemas.microsoft.com/office/drawing/2014/main" id="{D4E6A432-6FA5-3B23-02AB-C35F8F99BB24}"/>
                    </a:ext>
                  </a:extLst>
                </p:cNvPr>
                <p:cNvSpPr txBox="1"/>
                <p:nvPr/>
              </p:nvSpPr>
              <p:spPr>
                <a:xfrm>
                  <a:off x="648214" y="4129924"/>
                  <a:ext cx="1070411" cy="559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微軟正黑體 Light" panose="020B0304030504040204" pitchFamily="34" charset="-120"/>
                    </a:rPr>
                    <a:t>current</a:t>
                  </a:r>
                  <a:endParaRPr kumimoji="0" lang="zh-TW" altLang="en-US" sz="11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軟正黑體 Light" panose="020B0304030504040204" pitchFamily="34" charset="-120"/>
                  </a:endParaRPr>
                </a:p>
              </p:txBody>
            </p:sp>
          </p:grpSp>
          <p:cxnSp>
            <p:nvCxnSpPr>
              <p:cNvPr id="246" name="直線單箭頭接點 72">
                <a:extLst>
                  <a:ext uri="{FF2B5EF4-FFF2-40B4-BE49-F238E27FC236}">
                    <a16:creationId xmlns:a16="http://schemas.microsoft.com/office/drawing/2014/main" id="{B1028E3B-C180-C005-7CB7-0570E29ED216}"/>
                  </a:ext>
                </a:extLst>
              </p:cNvPr>
              <p:cNvCxnSpPr>
                <a:stCxn id="254" idx="1"/>
                <a:endCxn id="253" idx="3"/>
              </p:cNvCxnSpPr>
              <p:nvPr/>
            </p:nvCxnSpPr>
            <p:spPr>
              <a:xfrm flipH="1">
                <a:off x="1515137" y="2972746"/>
                <a:ext cx="826722" cy="5424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44546A"/>
                </a:solidFill>
                <a:prstDash val="solid"/>
                <a:miter lim="800000"/>
                <a:headEnd type="none"/>
                <a:tailEnd type="arrow"/>
              </a:ln>
              <a:effectLst/>
            </p:spPr>
          </p:cxnSp>
        </p:grpSp>
        <p:grpSp>
          <p:nvGrpSpPr>
            <p:cNvPr id="235" name="群組 139">
              <a:extLst>
                <a:ext uri="{FF2B5EF4-FFF2-40B4-BE49-F238E27FC236}">
                  <a16:creationId xmlns:a16="http://schemas.microsoft.com/office/drawing/2014/main" id="{99762203-3A25-027F-B785-B79F92D4F8E2}"/>
                </a:ext>
              </a:extLst>
            </p:cNvPr>
            <p:cNvGrpSpPr/>
            <p:nvPr/>
          </p:nvGrpSpPr>
          <p:grpSpPr>
            <a:xfrm>
              <a:off x="9917332" y="2254564"/>
              <a:ext cx="329554" cy="571933"/>
              <a:chOff x="1318434" y="1905779"/>
              <a:chExt cx="393404" cy="632009"/>
            </a:xfrm>
          </p:grpSpPr>
          <p:cxnSp>
            <p:nvCxnSpPr>
              <p:cNvPr id="242" name="直線接點 146">
                <a:extLst>
                  <a:ext uri="{FF2B5EF4-FFF2-40B4-BE49-F238E27FC236}">
                    <a16:creationId xmlns:a16="http://schemas.microsoft.com/office/drawing/2014/main" id="{2B83BC11-A79E-6E39-CFB6-8D8C2D8AE607}"/>
                  </a:ext>
                </a:extLst>
              </p:cNvPr>
              <p:cNvCxnSpPr/>
              <p:nvPr/>
            </p:nvCxnSpPr>
            <p:spPr>
              <a:xfrm>
                <a:off x="1538477" y="2219537"/>
                <a:ext cx="0" cy="318251"/>
              </a:xfrm>
              <a:prstGeom prst="line">
                <a:avLst/>
              </a:prstGeom>
              <a:noFill/>
              <a:ln w="28575" cap="flat" cmpd="sng" algn="ctr">
                <a:solidFill>
                  <a:srgbClr val="44546A"/>
                </a:solidFill>
                <a:prstDash val="solid"/>
                <a:miter lim="800000"/>
                <a:headEnd type="none"/>
                <a:tailEnd type="none" w="lg" len="med"/>
              </a:ln>
              <a:effectLst/>
            </p:spPr>
          </p:cxnSp>
          <p:sp>
            <p:nvSpPr>
              <p:cNvPr id="243" name="圓形圖 69">
                <a:extLst>
                  <a:ext uri="{FF2B5EF4-FFF2-40B4-BE49-F238E27FC236}">
                    <a16:creationId xmlns:a16="http://schemas.microsoft.com/office/drawing/2014/main" id="{766605F1-E49F-9D64-ECC3-2CF0B48FEFDB}"/>
                  </a:ext>
                </a:extLst>
              </p:cNvPr>
              <p:cNvSpPr/>
              <p:nvPr/>
            </p:nvSpPr>
            <p:spPr bwMode="auto">
              <a:xfrm rot="19496728">
                <a:off x="1318434" y="1905779"/>
                <a:ext cx="393404" cy="465437"/>
              </a:xfrm>
              <a:prstGeom prst="pie">
                <a:avLst/>
              </a:prstGeom>
              <a:solidFill>
                <a:srgbClr val="FF643F"/>
              </a:solidFill>
              <a:ln w="12700" cap="flat" cmpd="sng" algn="ctr">
                <a:solidFill>
                  <a:srgbClr val="FF3300"/>
                </a:solidFill>
                <a:prstDash val="solid"/>
                <a:miter lim="800000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</p:grpSp>
        <p:grpSp>
          <p:nvGrpSpPr>
            <p:cNvPr id="236" name="群組 140">
              <a:extLst>
                <a:ext uri="{FF2B5EF4-FFF2-40B4-BE49-F238E27FC236}">
                  <a16:creationId xmlns:a16="http://schemas.microsoft.com/office/drawing/2014/main" id="{A877E34C-D9B7-B867-E6C8-CFC29BE1F378}"/>
                </a:ext>
              </a:extLst>
            </p:cNvPr>
            <p:cNvGrpSpPr/>
            <p:nvPr/>
          </p:nvGrpSpPr>
          <p:grpSpPr>
            <a:xfrm>
              <a:off x="10576194" y="2259908"/>
              <a:ext cx="329554" cy="571933"/>
              <a:chOff x="2104955" y="1911683"/>
              <a:chExt cx="393404" cy="632009"/>
            </a:xfrm>
          </p:grpSpPr>
          <p:cxnSp>
            <p:nvCxnSpPr>
              <p:cNvPr id="240" name="直線接點 144">
                <a:extLst>
                  <a:ext uri="{FF2B5EF4-FFF2-40B4-BE49-F238E27FC236}">
                    <a16:creationId xmlns:a16="http://schemas.microsoft.com/office/drawing/2014/main" id="{8839D103-0BF3-D130-FFAB-7F91AA586E72}"/>
                  </a:ext>
                </a:extLst>
              </p:cNvPr>
              <p:cNvCxnSpPr/>
              <p:nvPr/>
            </p:nvCxnSpPr>
            <p:spPr>
              <a:xfrm>
                <a:off x="2324998" y="2225441"/>
                <a:ext cx="0" cy="318251"/>
              </a:xfrm>
              <a:prstGeom prst="line">
                <a:avLst/>
              </a:prstGeom>
              <a:noFill/>
              <a:ln w="28575" cap="flat" cmpd="sng" algn="ctr">
                <a:solidFill>
                  <a:srgbClr val="44546A"/>
                </a:solidFill>
                <a:prstDash val="solid"/>
                <a:miter lim="800000"/>
                <a:headEnd type="none"/>
                <a:tailEnd type="none" w="lg" len="med"/>
              </a:ln>
              <a:effectLst/>
            </p:spPr>
          </p:cxnSp>
          <p:sp>
            <p:nvSpPr>
              <p:cNvPr id="241" name="圓形圖 71">
                <a:extLst>
                  <a:ext uri="{FF2B5EF4-FFF2-40B4-BE49-F238E27FC236}">
                    <a16:creationId xmlns:a16="http://schemas.microsoft.com/office/drawing/2014/main" id="{C4CE2F35-EB8C-F05B-2D11-C4703A54E644}"/>
                  </a:ext>
                </a:extLst>
              </p:cNvPr>
              <p:cNvSpPr/>
              <p:nvPr/>
            </p:nvSpPr>
            <p:spPr bwMode="auto">
              <a:xfrm rot="19496728">
                <a:off x="2104955" y="1911683"/>
                <a:ext cx="393404" cy="465437"/>
              </a:xfrm>
              <a:prstGeom prst="pie">
                <a:avLst/>
              </a:prstGeom>
              <a:solidFill>
                <a:srgbClr val="FF643F"/>
              </a:solidFill>
              <a:ln w="12700" cap="flat" cmpd="sng" algn="ctr">
                <a:solidFill>
                  <a:srgbClr val="FF3300"/>
                </a:solidFill>
                <a:prstDash val="solid"/>
                <a:miter lim="800000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</p:grpSp>
        <p:sp>
          <p:nvSpPr>
            <p:cNvPr id="237" name="橢圓 141">
              <a:extLst>
                <a:ext uri="{FF2B5EF4-FFF2-40B4-BE49-F238E27FC236}">
                  <a16:creationId xmlns:a16="http://schemas.microsoft.com/office/drawing/2014/main" id="{B9448EE3-01E4-398A-CA0E-30C183049DC1}"/>
                </a:ext>
              </a:extLst>
            </p:cNvPr>
            <p:cNvSpPr/>
            <p:nvPr/>
          </p:nvSpPr>
          <p:spPr>
            <a:xfrm>
              <a:off x="10496345" y="2178395"/>
              <a:ext cx="502415" cy="403615"/>
            </a:xfrm>
            <a:prstGeom prst="ellipse">
              <a:avLst/>
            </a:prstGeom>
            <a:solidFill>
              <a:srgbClr val="FFFF00">
                <a:alpha val="60000"/>
              </a:srgbClr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glow rad="228600">
                <a:srgbClr val="FFC000">
                  <a:satMod val="175000"/>
                  <a:alpha val="40000"/>
                </a:srgbClr>
              </a:glow>
              <a:softEdge rad="3175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238" name="菱形 142">
              <a:extLst>
                <a:ext uri="{FF2B5EF4-FFF2-40B4-BE49-F238E27FC236}">
                  <a16:creationId xmlns:a16="http://schemas.microsoft.com/office/drawing/2014/main" id="{653CE11A-D733-9EF8-90A7-FB86358C0544}"/>
                </a:ext>
              </a:extLst>
            </p:cNvPr>
            <p:cNvSpPr/>
            <p:nvPr/>
          </p:nvSpPr>
          <p:spPr>
            <a:xfrm rot="889753">
              <a:off x="10641963" y="2074704"/>
              <a:ext cx="293845" cy="350243"/>
            </a:xfrm>
            <a:prstGeom prst="diamond">
              <a:avLst/>
            </a:prstGeom>
            <a:solidFill>
              <a:srgbClr val="FF99FF"/>
            </a:solidFill>
            <a:ln w="12700" cap="flat" cmpd="sng" algn="ctr">
              <a:solidFill>
                <a:srgbClr val="ED7D31">
                  <a:shade val="15000"/>
                </a:srgbClr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  <p:sp>
          <p:nvSpPr>
            <p:cNvPr id="239" name="橢圓 143">
              <a:extLst>
                <a:ext uri="{FF2B5EF4-FFF2-40B4-BE49-F238E27FC236}">
                  <a16:creationId xmlns:a16="http://schemas.microsoft.com/office/drawing/2014/main" id="{823F0846-19F1-5C92-8177-1F32BF0D3338}"/>
                </a:ext>
              </a:extLst>
            </p:cNvPr>
            <p:cNvSpPr/>
            <p:nvPr/>
          </p:nvSpPr>
          <p:spPr>
            <a:xfrm>
              <a:off x="9968627" y="1922532"/>
              <a:ext cx="336588" cy="269359"/>
            </a:xfrm>
            <a:prstGeom prst="ellipse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+mn-cs"/>
              </a:endParaRPr>
            </a:p>
          </p:txBody>
        </p:sp>
      </p:grpSp>
      <p:sp>
        <p:nvSpPr>
          <p:cNvPr id="255" name="矩形 50">
            <a:extLst>
              <a:ext uri="{FF2B5EF4-FFF2-40B4-BE49-F238E27FC236}">
                <a16:creationId xmlns:a16="http://schemas.microsoft.com/office/drawing/2014/main" id="{04345018-9F76-F446-505F-7B049BDF38A0}"/>
              </a:ext>
            </a:extLst>
          </p:cNvPr>
          <p:cNvSpPr/>
          <p:nvPr/>
        </p:nvSpPr>
        <p:spPr>
          <a:xfrm>
            <a:off x="7748250" y="3867607"/>
            <a:ext cx="1596622" cy="188863"/>
          </a:xfrm>
          <a:prstGeom prst="rect">
            <a:avLst/>
          </a:prstGeom>
          <a:solidFill>
            <a:srgbClr val="FFFF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kern="0" dirty="0">
                <a:solidFill>
                  <a:srgbClr val="FF0000"/>
                </a:solidFill>
                <a:latin typeface="Calibri"/>
                <a:ea typeface="標楷體"/>
              </a:rPr>
              <a:t>Bio-Sensing</a:t>
            </a:r>
            <a:endParaRPr kumimoji="0" lang="zh-TW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sp>
        <p:nvSpPr>
          <p:cNvPr id="256" name="文字方塊 73">
            <a:extLst>
              <a:ext uri="{FF2B5EF4-FFF2-40B4-BE49-F238E27FC236}">
                <a16:creationId xmlns:a16="http://schemas.microsoft.com/office/drawing/2014/main" id="{58C7C9C4-C98E-E527-6B9E-77649764A105}"/>
              </a:ext>
            </a:extLst>
          </p:cNvPr>
          <p:cNvSpPr txBox="1"/>
          <p:nvPr/>
        </p:nvSpPr>
        <p:spPr>
          <a:xfrm>
            <a:off x="7661168" y="5415685"/>
            <a:ext cx="18662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標楷體"/>
                <a:cs typeface="+mn-cs"/>
              </a:rPr>
              <a:t>FET detects change of electricity discharge</a:t>
            </a:r>
          </a:p>
        </p:txBody>
      </p:sp>
      <p:grpSp>
        <p:nvGrpSpPr>
          <p:cNvPr id="257" name="群組 115">
            <a:extLst>
              <a:ext uri="{FF2B5EF4-FFF2-40B4-BE49-F238E27FC236}">
                <a16:creationId xmlns:a16="http://schemas.microsoft.com/office/drawing/2014/main" id="{494AB215-3D4C-BAC0-BF65-A4E3D8D8F7F5}"/>
              </a:ext>
            </a:extLst>
          </p:cNvPr>
          <p:cNvGrpSpPr/>
          <p:nvPr/>
        </p:nvGrpSpPr>
        <p:grpSpPr>
          <a:xfrm>
            <a:off x="7521861" y="2033773"/>
            <a:ext cx="1972611" cy="1473331"/>
            <a:chOff x="9016191" y="3937983"/>
            <a:chExt cx="2687996" cy="1724887"/>
          </a:xfrm>
        </p:grpSpPr>
        <p:cxnSp>
          <p:nvCxnSpPr>
            <p:cNvPr id="258" name="直線單箭頭接點 11">
              <a:extLst>
                <a:ext uri="{FF2B5EF4-FFF2-40B4-BE49-F238E27FC236}">
                  <a16:creationId xmlns:a16="http://schemas.microsoft.com/office/drawing/2014/main" id="{B7967D6B-F510-34D5-30AA-1E8A69B4F8EB}"/>
                </a:ext>
              </a:extLst>
            </p:cNvPr>
            <p:cNvCxnSpPr/>
            <p:nvPr/>
          </p:nvCxnSpPr>
          <p:spPr>
            <a:xfrm flipH="1" flipV="1">
              <a:off x="9267760" y="3937983"/>
              <a:ext cx="0" cy="1338897"/>
            </a:xfrm>
            <a:prstGeom prst="straightConnector1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59" name="直線單箭頭接點 12">
              <a:extLst>
                <a:ext uri="{FF2B5EF4-FFF2-40B4-BE49-F238E27FC236}">
                  <a16:creationId xmlns:a16="http://schemas.microsoft.com/office/drawing/2014/main" id="{61828BE5-2032-B6CC-F1DB-2DA3BB7E64BC}"/>
                </a:ext>
              </a:extLst>
            </p:cNvPr>
            <p:cNvCxnSpPr/>
            <p:nvPr/>
          </p:nvCxnSpPr>
          <p:spPr>
            <a:xfrm>
              <a:off x="9279963" y="5256436"/>
              <a:ext cx="2424224" cy="0"/>
            </a:xfrm>
            <a:prstGeom prst="straightConnector1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60" name="手繪多邊形 53">
              <a:extLst>
                <a:ext uri="{FF2B5EF4-FFF2-40B4-BE49-F238E27FC236}">
                  <a16:creationId xmlns:a16="http://schemas.microsoft.com/office/drawing/2014/main" id="{8E19F3A2-5FF9-99CD-1A61-275DF7A4AA34}"/>
                </a:ext>
              </a:extLst>
            </p:cNvPr>
            <p:cNvSpPr/>
            <p:nvPr/>
          </p:nvSpPr>
          <p:spPr>
            <a:xfrm>
              <a:off x="9297759" y="4156033"/>
              <a:ext cx="2243939" cy="867436"/>
            </a:xfrm>
            <a:custGeom>
              <a:avLst/>
              <a:gdLst>
                <a:gd name="connsiteX0" fmla="*/ 0 w 1509823"/>
                <a:gd name="connsiteY0" fmla="*/ 843785 h 859714"/>
                <a:gd name="connsiteX1" fmla="*/ 308344 w 1509823"/>
                <a:gd name="connsiteY1" fmla="*/ 833152 h 859714"/>
                <a:gd name="connsiteX2" fmla="*/ 542261 w 1509823"/>
                <a:gd name="connsiteY2" fmla="*/ 833152 h 859714"/>
                <a:gd name="connsiteX3" fmla="*/ 542261 w 1509823"/>
                <a:gd name="connsiteY3" fmla="*/ 822520 h 859714"/>
                <a:gd name="connsiteX4" fmla="*/ 584791 w 1509823"/>
                <a:gd name="connsiteY4" fmla="*/ 365320 h 859714"/>
                <a:gd name="connsiteX5" fmla="*/ 733647 w 1509823"/>
                <a:gd name="connsiteY5" fmla="*/ 120771 h 859714"/>
                <a:gd name="connsiteX6" fmla="*/ 1116419 w 1509823"/>
                <a:gd name="connsiteY6" fmla="*/ 14445 h 859714"/>
                <a:gd name="connsiteX7" fmla="*/ 1509823 w 1509823"/>
                <a:gd name="connsiteY7" fmla="*/ 3813 h 85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09823" h="859714">
                  <a:moveTo>
                    <a:pt x="0" y="843785"/>
                  </a:moveTo>
                  <a:lnTo>
                    <a:pt x="308344" y="833152"/>
                  </a:lnTo>
                  <a:cubicBezTo>
                    <a:pt x="398721" y="831380"/>
                    <a:pt x="503275" y="834924"/>
                    <a:pt x="542261" y="833152"/>
                  </a:cubicBezTo>
                  <a:cubicBezTo>
                    <a:pt x="581247" y="831380"/>
                    <a:pt x="535173" y="900492"/>
                    <a:pt x="542261" y="822520"/>
                  </a:cubicBezTo>
                  <a:cubicBezTo>
                    <a:pt x="549349" y="744548"/>
                    <a:pt x="552893" y="482278"/>
                    <a:pt x="584791" y="365320"/>
                  </a:cubicBezTo>
                  <a:cubicBezTo>
                    <a:pt x="616689" y="248362"/>
                    <a:pt x="645042" y="179250"/>
                    <a:pt x="733647" y="120771"/>
                  </a:cubicBezTo>
                  <a:cubicBezTo>
                    <a:pt x="822252" y="62292"/>
                    <a:pt x="987056" y="33938"/>
                    <a:pt x="1116419" y="14445"/>
                  </a:cubicBezTo>
                  <a:cubicBezTo>
                    <a:pt x="1245782" y="-5048"/>
                    <a:pt x="1377802" y="-618"/>
                    <a:pt x="1509823" y="3813"/>
                  </a:cubicBezTo>
                </a:path>
              </a:pathLst>
            </a:custGeom>
            <a:noFill/>
            <a:ln w="28575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標楷體"/>
                <a:cs typeface="Times New Roman" panose="02020603050405020304" pitchFamily="18" charset="0"/>
              </a:endParaRPr>
            </a:p>
          </p:txBody>
        </p:sp>
        <p:pic>
          <p:nvPicPr>
            <p:cNvPr id="261" name="圖片 119">
              <a:extLst>
                <a:ext uri="{FF2B5EF4-FFF2-40B4-BE49-F238E27FC236}">
                  <a16:creationId xmlns:a16="http://schemas.microsoft.com/office/drawing/2014/main" id="{DB7FD61C-F2AD-2D60-78B1-8D47BF03D1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25203"/>
            <a:stretch>
              <a:fillRect/>
            </a:stretch>
          </p:blipFill>
          <p:spPr>
            <a:xfrm>
              <a:off x="9354120" y="4133593"/>
              <a:ext cx="2213139" cy="898088"/>
            </a:xfrm>
            <a:prstGeom prst="rect">
              <a:avLst/>
            </a:prstGeom>
          </p:spPr>
        </p:pic>
        <p:sp>
          <p:nvSpPr>
            <p:cNvPr id="262" name="文字方塊 120">
              <a:extLst>
                <a:ext uri="{FF2B5EF4-FFF2-40B4-BE49-F238E27FC236}">
                  <a16:creationId xmlns:a16="http://schemas.microsoft.com/office/drawing/2014/main" id="{87C8B180-526F-03D3-9CF4-395B86816CFB}"/>
                </a:ext>
              </a:extLst>
            </p:cNvPr>
            <p:cNvSpPr txBox="1"/>
            <p:nvPr/>
          </p:nvSpPr>
          <p:spPr>
            <a:xfrm rot="16200000">
              <a:off x="8863069" y="4539578"/>
              <a:ext cx="482303" cy="17606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I</a:t>
              </a:r>
              <a:endParaRPr kumimoji="0" lang="zh-TW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  <p:sp>
          <p:nvSpPr>
            <p:cNvPr id="263" name="文字方塊 121">
              <a:extLst>
                <a:ext uri="{FF2B5EF4-FFF2-40B4-BE49-F238E27FC236}">
                  <a16:creationId xmlns:a16="http://schemas.microsoft.com/office/drawing/2014/main" id="{8D53C2D6-6050-5F47-9620-C2AB3457095F}"/>
                </a:ext>
              </a:extLst>
            </p:cNvPr>
            <p:cNvSpPr txBox="1"/>
            <p:nvPr/>
          </p:nvSpPr>
          <p:spPr>
            <a:xfrm>
              <a:off x="10274942" y="5306385"/>
              <a:ext cx="365223" cy="356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V</a:t>
              </a:r>
              <a:endParaRPr kumimoji="0" lang="zh-TW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  <p:sp>
          <p:nvSpPr>
            <p:cNvPr id="264" name="Arrow: Right 2">
              <a:extLst>
                <a:ext uri="{FF2B5EF4-FFF2-40B4-BE49-F238E27FC236}">
                  <a16:creationId xmlns:a16="http://schemas.microsoft.com/office/drawing/2014/main" id="{7F315F54-7B77-BB00-66CC-00B2B5899B95}"/>
                </a:ext>
              </a:extLst>
            </p:cNvPr>
            <p:cNvSpPr/>
            <p:nvPr/>
          </p:nvSpPr>
          <p:spPr>
            <a:xfrm>
              <a:off x="10347162" y="4530407"/>
              <a:ext cx="468000" cy="116948"/>
            </a:xfrm>
            <a:prstGeom prst="rightArrow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Times New Roman" panose="02020603050405020304" pitchFamily="18" charset="0"/>
              </a:endParaRPr>
            </a:p>
          </p:txBody>
        </p:sp>
        <p:pic>
          <p:nvPicPr>
            <p:cNvPr id="265" name="圖片 123">
              <a:extLst>
                <a:ext uri="{FF2B5EF4-FFF2-40B4-BE49-F238E27FC236}">
                  <a16:creationId xmlns:a16="http://schemas.microsoft.com/office/drawing/2014/main" id="{97FBD05A-9715-E897-4F86-BDA63D350B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679"/>
            <a:stretch>
              <a:fillRect/>
            </a:stretch>
          </p:blipFill>
          <p:spPr>
            <a:xfrm>
              <a:off x="9291355" y="4141591"/>
              <a:ext cx="1853564" cy="898088"/>
            </a:xfrm>
            <a:prstGeom prst="rect">
              <a:avLst/>
            </a:prstGeom>
          </p:spPr>
        </p:pic>
        <p:sp>
          <p:nvSpPr>
            <p:cNvPr id="266" name="Arrow: Right 130">
              <a:extLst>
                <a:ext uri="{FF2B5EF4-FFF2-40B4-BE49-F238E27FC236}">
                  <a16:creationId xmlns:a16="http://schemas.microsoft.com/office/drawing/2014/main" id="{1DEBD823-0DFC-7FC6-4C4B-A8AC7772CCC8}"/>
                </a:ext>
              </a:extLst>
            </p:cNvPr>
            <p:cNvSpPr/>
            <p:nvPr/>
          </p:nvSpPr>
          <p:spPr>
            <a:xfrm rot="10800000">
              <a:off x="9406550" y="4525281"/>
              <a:ext cx="468000" cy="116948"/>
            </a:xfrm>
            <a:prstGeom prst="rightArrow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標楷體"/>
                <a:cs typeface="Times New Roman" panose="02020603050405020304" pitchFamily="18" charset="0"/>
              </a:endParaRPr>
            </a:p>
          </p:txBody>
        </p:sp>
      </p:grpSp>
      <p:pic>
        <p:nvPicPr>
          <p:cNvPr id="267" name="圖片 110" descr="一張含有 電腦, 筆記型電腦, 文字, 電子裝置 的圖片&#10;&#10;AI 產生的內容可能不正確。">
            <a:extLst>
              <a:ext uri="{FF2B5EF4-FFF2-40B4-BE49-F238E27FC236}">
                <a16:creationId xmlns:a16="http://schemas.microsoft.com/office/drawing/2014/main" id="{F67AFF93-F701-43A6-E486-D55C2F47F69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4011" y="2084031"/>
            <a:ext cx="1394863" cy="1216627"/>
          </a:xfrm>
          <a:prstGeom prst="rect">
            <a:avLst/>
          </a:prstGeom>
        </p:spPr>
      </p:pic>
      <p:sp>
        <p:nvSpPr>
          <p:cNvPr id="268" name="矩形 50">
            <a:extLst>
              <a:ext uri="{FF2B5EF4-FFF2-40B4-BE49-F238E27FC236}">
                <a16:creationId xmlns:a16="http://schemas.microsoft.com/office/drawing/2014/main" id="{A914FB6E-B1D0-9B3B-04AB-CD69A6FF34B6}"/>
              </a:ext>
            </a:extLst>
          </p:cNvPr>
          <p:cNvSpPr/>
          <p:nvPr/>
        </p:nvSpPr>
        <p:spPr>
          <a:xfrm>
            <a:off x="9854011" y="3867606"/>
            <a:ext cx="1596622" cy="188863"/>
          </a:xfrm>
          <a:prstGeom prst="rect">
            <a:avLst/>
          </a:prstGeom>
          <a:solidFill>
            <a:srgbClr val="FFFF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kern="0" dirty="0">
                <a:solidFill>
                  <a:srgbClr val="FF0000"/>
                </a:solidFill>
                <a:latin typeface="Calibri"/>
                <a:ea typeface="標楷體"/>
              </a:rPr>
              <a:t>Signal Reading</a:t>
            </a:r>
            <a:endParaRPr kumimoji="0" lang="zh-TW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  <p:pic>
        <p:nvPicPr>
          <p:cNvPr id="269" name="圖片 6" descr="一張含有 電腦, 筆記型電腦, 輸出裝置, 電子裝置 的圖片&#10;&#10;AI 產生的內容可能不正確。">
            <a:extLst>
              <a:ext uri="{FF2B5EF4-FFF2-40B4-BE49-F238E27FC236}">
                <a16:creationId xmlns:a16="http://schemas.microsoft.com/office/drawing/2014/main" id="{705765D9-978C-1A79-53FC-72AC30C103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7025" y="4210345"/>
            <a:ext cx="1368374" cy="1260819"/>
          </a:xfrm>
          <a:prstGeom prst="rect">
            <a:avLst/>
          </a:prstGeom>
        </p:spPr>
      </p:pic>
      <p:sp>
        <p:nvSpPr>
          <p:cNvPr id="270" name="文字方塊 96">
            <a:extLst>
              <a:ext uri="{FF2B5EF4-FFF2-40B4-BE49-F238E27FC236}">
                <a16:creationId xmlns:a16="http://schemas.microsoft.com/office/drawing/2014/main" id="{BECE2322-8BEE-C64A-DF1D-8D6854F3137D}"/>
              </a:ext>
            </a:extLst>
          </p:cNvPr>
          <p:cNvSpPr txBox="1"/>
          <p:nvPr/>
        </p:nvSpPr>
        <p:spPr>
          <a:xfrm>
            <a:off x="9822690" y="1448859"/>
            <a:ext cx="18662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kern="0" dirty="0">
                <a:solidFill>
                  <a:prstClr val="black"/>
                </a:solidFill>
                <a:latin typeface="Calibri"/>
                <a:ea typeface="標楷體"/>
              </a:rPr>
              <a:t>AI-powered analytics as value added service 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7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1DB9E47F-4231-F87E-FBDD-BDB774303A75}"/>
              </a:ext>
            </a:extLst>
          </p:cNvPr>
          <p:cNvSpPr txBox="1">
            <a:spLocks/>
          </p:cNvSpPr>
          <p:nvPr/>
        </p:nvSpPr>
        <p:spPr>
          <a:xfrm>
            <a:off x="462190" y="465341"/>
            <a:ext cx="10080000" cy="507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3200" b="1" i="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</a:defRPr>
            </a:lvl1pPr>
          </a:lstStyle>
          <a:p>
            <a:r>
              <a:rPr lang="en" altLang="zh-TW" sz="2400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Biomarker Portfolio Under Development </a:t>
            </a:r>
            <a:endParaRPr lang="zh-TW" altLang="en-US" sz="2400" dirty="0">
              <a:solidFill>
                <a:srgbClr val="478B9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表格 23">
            <a:extLst>
              <a:ext uri="{FF2B5EF4-FFF2-40B4-BE49-F238E27FC236}">
                <a16:creationId xmlns:a16="http://schemas.microsoft.com/office/drawing/2014/main" id="{841C38F5-7865-FFB5-EC41-0BB84A4C1126}"/>
              </a:ext>
            </a:extLst>
          </p:cNvPr>
          <p:cNvGraphicFramePr>
            <a:graphicFrameLocks noGrp="1"/>
          </p:cNvGraphicFramePr>
          <p:nvPr/>
        </p:nvGraphicFramePr>
        <p:xfrm>
          <a:off x="418588" y="1118551"/>
          <a:ext cx="11354823" cy="5274108"/>
        </p:xfrm>
        <a:graphic>
          <a:graphicData uri="http://schemas.openxmlformats.org/drawingml/2006/table">
            <a:tbl>
              <a:tblPr firstRow="1" bandRow="1"/>
              <a:tblGrid>
                <a:gridCol w="1780227">
                  <a:extLst>
                    <a:ext uri="{9D8B030D-6E8A-4147-A177-3AD203B41FA5}">
                      <a16:colId xmlns:a16="http://schemas.microsoft.com/office/drawing/2014/main" val="3184408084"/>
                    </a:ext>
                  </a:extLst>
                </a:gridCol>
                <a:gridCol w="2393649">
                  <a:extLst>
                    <a:ext uri="{9D8B030D-6E8A-4147-A177-3AD203B41FA5}">
                      <a16:colId xmlns:a16="http://schemas.microsoft.com/office/drawing/2014/main" val="1694168951"/>
                    </a:ext>
                  </a:extLst>
                </a:gridCol>
                <a:gridCol w="2393649">
                  <a:extLst>
                    <a:ext uri="{9D8B030D-6E8A-4147-A177-3AD203B41FA5}">
                      <a16:colId xmlns:a16="http://schemas.microsoft.com/office/drawing/2014/main" val="1638316415"/>
                    </a:ext>
                  </a:extLst>
                </a:gridCol>
                <a:gridCol w="2393649">
                  <a:extLst>
                    <a:ext uri="{9D8B030D-6E8A-4147-A177-3AD203B41FA5}">
                      <a16:colId xmlns:a16="http://schemas.microsoft.com/office/drawing/2014/main" val="512077786"/>
                    </a:ext>
                  </a:extLst>
                </a:gridCol>
                <a:gridCol w="2393649">
                  <a:extLst>
                    <a:ext uri="{9D8B030D-6E8A-4147-A177-3AD203B41FA5}">
                      <a16:colId xmlns:a16="http://schemas.microsoft.com/office/drawing/2014/main" val="1095437684"/>
                    </a:ext>
                  </a:extLst>
                </a:gridCol>
              </a:tblGrid>
              <a:tr h="252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b="1" dirty="0"/>
                        <a:t>Field</a:t>
                      </a:r>
                      <a:endParaRPr lang="zh-TW" altLang="en-US" b="1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endParaRPr lang="zh-TW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endParaRPr lang="zh-TW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endParaRPr lang="zh-TW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endParaRPr lang="zh-TW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788917"/>
                  </a:ext>
                </a:extLst>
              </a:tr>
              <a:tr h="376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/>
                        <a:t>Probe sorts</a:t>
                      </a:r>
                      <a:endParaRPr lang="zh-TW" altLang="en-US" sz="1400" b="1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Ab &amp; </a:t>
                      </a:r>
                      <a:r>
                        <a:rPr lang="en-US" altLang="zh-TW" sz="140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標楷體"/>
                          <a:cs typeface="+mn-cs"/>
                        </a:rPr>
                        <a:t>NA</a:t>
                      </a:r>
                      <a:endParaRPr lang="zh-TW" altLang="zh-TW" sz="1400" i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標楷體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TW" sz="1400" dirty="0">
                          <a:latin typeface="+mj-lt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Ab &amp; NA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02956"/>
                  </a:ext>
                </a:extLst>
              </a:tr>
              <a:tr h="13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400" b="1" dirty="0"/>
                        <a:t>Biomarker Probes</a:t>
                      </a:r>
                    </a:p>
                    <a:p>
                      <a:pPr algn="ctr"/>
                      <a:r>
                        <a:rPr lang="en-US" altLang="zh-TW" sz="1400" b="1" dirty="0"/>
                        <a:t>(Ab/NA)</a:t>
                      </a:r>
                      <a:endParaRPr lang="zh-TW" altLang="en-US" sz="1400" b="1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i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E. faecium</a:t>
                      </a: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i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A. baumannii</a:t>
                      </a: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i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K. pneumoniae</a:t>
                      </a: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zh-TW" sz="1500" i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E. coli</a:t>
                      </a: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zh-TW" sz="1500" i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E. faecalis</a:t>
                      </a: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zh-TW" sz="1500" i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P. </a:t>
                      </a:r>
                      <a:r>
                        <a:rPr lang="fr-FR" altLang="zh-TW" sz="1500" i="1" kern="1200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aeruginosa</a:t>
                      </a: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altLang="zh-TW" sz="1500" i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標楷體"/>
                          <a:cs typeface="+mn-cs"/>
                        </a:rPr>
                        <a:t>S. aureus</a:t>
                      </a: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500" kern="1200" dirty="0">
                        <a:solidFill>
                          <a:schemeClr val="dk1"/>
                        </a:solidFill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500" kern="1200" dirty="0" err="1">
                          <a:solidFill>
                            <a:schemeClr val="dk1"/>
                          </a:solidFill>
                          <a:latin typeface="Calibri"/>
                          <a:ea typeface="標楷體"/>
                          <a:cs typeface="+mn-cs"/>
                        </a:rPr>
                        <a:t>pTau</a:t>
                      </a: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標楷體"/>
                          <a:cs typeface="+mn-cs"/>
                        </a:rPr>
                        <a:t> 181/217/231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kern="1200" dirty="0" err="1">
                          <a:solidFill>
                            <a:schemeClr val="dk1"/>
                          </a:solidFill>
                          <a:latin typeface="Calibri"/>
                          <a:ea typeface="標楷體"/>
                          <a:cs typeface="+mn-cs"/>
                        </a:rPr>
                        <a:t>NfL</a:t>
                      </a:r>
                      <a:endParaRPr lang="en-US" altLang="zh-TW" sz="1500" kern="1200" dirty="0">
                        <a:solidFill>
                          <a:schemeClr val="dk1"/>
                        </a:solidFill>
                        <a:latin typeface="Calibri"/>
                        <a:ea typeface="標楷體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標楷體"/>
                          <a:cs typeface="+mn-cs"/>
                        </a:rPr>
                        <a:t>GFAP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標楷體"/>
                          <a:cs typeface="+mn-cs"/>
                        </a:rPr>
                        <a:t>S100B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TDP-43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l-GR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α</a:t>
                      </a: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-synuclein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Amyloid beta 40/42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APOE4 (NA)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zh-TW" altLang="zh-TW" sz="1500" i="1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標楷體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EGFR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ALK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ROS1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BRAF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NTRK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RET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K-RAS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METex14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標楷體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PRRSV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PEDV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PCV1/2/3/4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CSFV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PRV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500" dirty="0">
                          <a:latin typeface="+mj-lt"/>
                        </a:rPr>
                        <a:t>SB</a:t>
                      </a:r>
                    </a:p>
                    <a:p>
                      <a:endParaRPr lang="en-US" altLang="zh-TW" sz="15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66493"/>
                  </a:ext>
                </a:extLst>
              </a:tr>
            </a:tbl>
          </a:graphicData>
        </a:graphic>
      </p:graphicFrame>
      <p:grpSp>
        <p:nvGrpSpPr>
          <p:cNvPr id="5" name="群組 33">
            <a:extLst>
              <a:ext uri="{FF2B5EF4-FFF2-40B4-BE49-F238E27FC236}">
                <a16:creationId xmlns:a16="http://schemas.microsoft.com/office/drawing/2014/main" id="{2F67C8A0-3194-52D1-D763-09CEA00C990E}"/>
              </a:ext>
            </a:extLst>
          </p:cNvPr>
          <p:cNvGrpSpPr/>
          <p:nvPr/>
        </p:nvGrpSpPr>
        <p:grpSpPr>
          <a:xfrm>
            <a:off x="2607548" y="1289200"/>
            <a:ext cx="1566551" cy="2139800"/>
            <a:chOff x="6136234" y="1289200"/>
            <a:chExt cx="1566551" cy="2139800"/>
          </a:xfrm>
        </p:grpSpPr>
        <p:grpSp>
          <p:nvGrpSpPr>
            <p:cNvPr id="6" name="群組 34">
              <a:extLst>
                <a:ext uri="{FF2B5EF4-FFF2-40B4-BE49-F238E27FC236}">
                  <a16:creationId xmlns:a16="http://schemas.microsoft.com/office/drawing/2014/main" id="{6950A634-9873-DA82-CDE2-290CC2D43EA8}"/>
                </a:ext>
              </a:extLst>
            </p:cNvPr>
            <p:cNvGrpSpPr/>
            <p:nvPr/>
          </p:nvGrpSpPr>
          <p:grpSpPr>
            <a:xfrm>
              <a:off x="6136234" y="1289200"/>
              <a:ext cx="1566551" cy="2139800"/>
              <a:chOff x="6406906" y="1013140"/>
              <a:chExt cx="2468805" cy="2766351"/>
            </a:xfrm>
          </p:grpSpPr>
          <p:sp>
            <p:nvSpPr>
              <p:cNvPr id="8" name="矩形: 圓角 36">
                <a:extLst>
                  <a:ext uri="{FF2B5EF4-FFF2-40B4-BE49-F238E27FC236}">
                    <a16:creationId xmlns:a16="http://schemas.microsoft.com/office/drawing/2014/main" id="{662665C3-7868-8E98-1CE6-EA44F5CE39CA}"/>
                  </a:ext>
                </a:extLst>
              </p:cNvPr>
              <p:cNvSpPr/>
              <p:nvPr/>
            </p:nvSpPr>
            <p:spPr>
              <a:xfrm>
                <a:off x="6406906" y="1013140"/>
                <a:ext cx="2446986" cy="2766351"/>
              </a:xfrm>
              <a:prstGeom prst="roundRect">
                <a:avLst>
                  <a:gd name="adj" fmla="val 7983"/>
                </a:avLst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>
                <a:outerShdw blurRad="292100" dist="50800" dir="5400000" sx="64000" sy="64000" algn="ctr" rotWithShape="0">
                  <a:srgbClr val="000000">
                    <a:alpha val="92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  <p:sp>
            <p:nvSpPr>
              <p:cNvPr id="9" name="文字方塊 37">
                <a:extLst>
                  <a:ext uri="{FF2B5EF4-FFF2-40B4-BE49-F238E27FC236}">
                    <a16:creationId xmlns:a16="http://schemas.microsoft.com/office/drawing/2014/main" id="{76724DDB-BE46-9561-EF5A-24E00E18B346}"/>
                  </a:ext>
                </a:extLst>
              </p:cNvPr>
              <p:cNvSpPr txBox="1"/>
              <p:nvPr/>
            </p:nvSpPr>
            <p:spPr>
              <a:xfrm>
                <a:off x="6428725" y="2895869"/>
                <a:ext cx="2446986" cy="526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91A5"/>
                    </a:solidFill>
                    <a:effectLst/>
                    <a:uLnTx/>
                    <a:uFillTx/>
                    <a:latin typeface="Rubik" pitchFamily="2" charset="-79"/>
                    <a:ea typeface="新細明體" panose="02020500000000000000" pitchFamily="18" charset="-120"/>
                    <a:cs typeface="Rubik" pitchFamily="2" charset="-79"/>
                  </a:rPr>
                  <a:t>Infection</a:t>
                </a:r>
              </a:p>
            </p:txBody>
          </p:sp>
        </p:grpSp>
        <p:pic>
          <p:nvPicPr>
            <p:cNvPr id="7" name="Picture 2" descr="C:\Users\bybyn\OneDrive\桌面\images.jfif">
              <a:extLst>
                <a:ext uri="{FF2B5EF4-FFF2-40B4-BE49-F238E27FC236}">
                  <a16:creationId xmlns:a16="http://schemas.microsoft.com/office/drawing/2014/main" id="{F182BE71-FA72-92B8-8D95-FC39D68BEF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3689" y="1468495"/>
              <a:ext cx="1145486" cy="1175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群組 28">
            <a:extLst>
              <a:ext uri="{FF2B5EF4-FFF2-40B4-BE49-F238E27FC236}">
                <a16:creationId xmlns:a16="http://schemas.microsoft.com/office/drawing/2014/main" id="{5463A861-988A-F900-0FA0-895CC078E807}"/>
              </a:ext>
            </a:extLst>
          </p:cNvPr>
          <p:cNvGrpSpPr/>
          <p:nvPr/>
        </p:nvGrpSpPr>
        <p:grpSpPr>
          <a:xfrm>
            <a:off x="4994918" y="1309719"/>
            <a:ext cx="1565423" cy="2119281"/>
            <a:chOff x="3049382" y="1294261"/>
            <a:chExt cx="1565423" cy="2119281"/>
          </a:xfrm>
        </p:grpSpPr>
        <p:grpSp>
          <p:nvGrpSpPr>
            <p:cNvPr id="11" name="群組 29">
              <a:extLst>
                <a:ext uri="{FF2B5EF4-FFF2-40B4-BE49-F238E27FC236}">
                  <a16:creationId xmlns:a16="http://schemas.microsoft.com/office/drawing/2014/main" id="{C11C84CD-AB70-ED82-999F-239D919EAF53}"/>
                </a:ext>
              </a:extLst>
            </p:cNvPr>
            <p:cNvGrpSpPr/>
            <p:nvPr/>
          </p:nvGrpSpPr>
          <p:grpSpPr>
            <a:xfrm>
              <a:off x="3049382" y="1294261"/>
              <a:ext cx="1565423" cy="2119281"/>
              <a:chOff x="3685171" y="1013140"/>
              <a:chExt cx="2467026" cy="2739823"/>
            </a:xfrm>
          </p:grpSpPr>
          <p:sp>
            <p:nvSpPr>
              <p:cNvPr id="13" name="矩形: 圓角 31">
                <a:extLst>
                  <a:ext uri="{FF2B5EF4-FFF2-40B4-BE49-F238E27FC236}">
                    <a16:creationId xmlns:a16="http://schemas.microsoft.com/office/drawing/2014/main" id="{F381BD74-D146-720B-7784-8DB8C4114FB6}"/>
                  </a:ext>
                </a:extLst>
              </p:cNvPr>
              <p:cNvSpPr/>
              <p:nvPr/>
            </p:nvSpPr>
            <p:spPr>
              <a:xfrm>
                <a:off x="3685171" y="1013140"/>
                <a:ext cx="2446985" cy="2739823"/>
              </a:xfrm>
              <a:prstGeom prst="roundRect">
                <a:avLst>
                  <a:gd name="adj" fmla="val 7983"/>
                </a:avLst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>
                <a:outerShdw blurRad="292100" dist="50800" dir="5400000" sx="64000" sy="64000" algn="ctr" rotWithShape="0">
                  <a:srgbClr val="000000">
                    <a:alpha val="92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標楷體"/>
                  <a:cs typeface="+mn-cs"/>
                </a:endParaRPr>
              </a:p>
            </p:txBody>
          </p:sp>
          <p:sp>
            <p:nvSpPr>
              <p:cNvPr id="14" name="文字方塊 32">
                <a:extLst>
                  <a:ext uri="{FF2B5EF4-FFF2-40B4-BE49-F238E27FC236}">
                    <a16:creationId xmlns:a16="http://schemas.microsoft.com/office/drawing/2014/main" id="{2A3920B6-30DF-C83C-2071-0424988FB0BB}"/>
                  </a:ext>
                </a:extLst>
              </p:cNvPr>
              <p:cNvSpPr txBox="1"/>
              <p:nvPr/>
            </p:nvSpPr>
            <p:spPr>
              <a:xfrm>
                <a:off x="3705212" y="2861928"/>
                <a:ext cx="2446985" cy="526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91A5"/>
                    </a:solidFill>
                    <a:effectLst/>
                    <a:uLnTx/>
                    <a:uFillTx/>
                    <a:latin typeface="Rubik" pitchFamily="2" charset="-79"/>
                    <a:ea typeface="新細明體" panose="02020500000000000000" pitchFamily="18" charset="-120"/>
                    <a:cs typeface="Rubik" pitchFamily="2" charset="-79"/>
                  </a:rPr>
                  <a:t>Dementia</a:t>
                </a:r>
              </a:p>
            </p:txBody>
          </p:sp>
        </p:grpSp>
        <p:pic>
          <p:nvPicPr>
            <p:cNvPr id="12" name="圖片 30">
              <a:extLst>
                <a:ext uri="{FF2B5EF4-FFF2-40B4-BE49-F238E27FC236}">
                  <a16:creationId xmlns:a16="http://schemas.microsoft.com/office/drawing/2014/main" id="{9B85E0AB-0228-4FD5-2ABB-C0E144920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32057" y="1433446"/>
              <a:ext cx="1008590" cy="1156538"/>
            </a:xfrm>
            <a:prstGeom prst="rect">
              <a:avLst/>
            </a:prstGeom>
          </p:spPr>
        </p:pic>
      </p:grpSp>
      <p:grpSp>
        <p:nvGrpSpPr>
          <p:cNvPr id="15" name="群組 38">
            <a:extLst>
              <a:ext uri="{FF2B5EF4-FFF2-40B4-BE49-F238E27FC236}">
                <a16:creationId xmlns:a16="http://schemas.microsoft.com/office/drawing/2014/main" id="{A45DAA49-27F9-B0BA-3C20-0B0CA4F84514}"/>
              </a:ext>
            </a:extLst>
          </p:cNvPr>
          <p:cNvGrpSpPr/>
          <p:nvPr/>
        </p:nvGrpSpPr>
        <p:grpSpPr>
          <a:xfrm>
            <a:off x="7382288" y="1309719"/>
            <a:ext cx="1586140" cy="2121953"/>
            <a:chOff x="7835840" y="1307047"/>
            <a:chExt cx="1586140" cy="2121953"/>
          </a:xfrm>
        </p:grpSpPr>
        <p:grpSp>
          <p:nvGrpSpPr>
            <p:cNvPr id="16" name="群組 39">
              <a:extLst>
                <a:ext uri="{FF2B5EF4-FFF2-40B4-BE49-F238E27FC236}">
                  <a16:creationId xmlns:a16="http://schemas.microsoft.com/office/drawing/2014/main" id="{960AAB1C-3065-E8AA-804D-ECF960889D88}"/>
                </a:ext>
              </a:extLst>
            </p:cNvPr>
            <p:cNvGrpSpPr/>
            <p:nvPr/>
          </p:nvGrpSpPr>
          <p:grpSpPr>
            <a:xfrm>
              <a:off x="7835840" y="1307047"/>
              <a:ext cx="1586140" cy="2121953"/>
              <a:chOff x="3634154" y="3702678"/>
              <a:chExt cx="2498003" cy="2739410"/>
            </a:xfrm>
          </p:grpSpPr>
          <p:sp>
            <p:nvSpPr>
              <p:cNvPr id="19" name="矩形: 圓角 42">
                <a:extLst>
                  <a:ext uri="{FF2B5EF4-FFF2-40B4-BE49-F238E27FC236}">
                    <a16:creationId xmlns:a16="http://schemas.microsoft.com/office/drawing/2014/main" id="{48B89D4B-CABA-E2C2-E7A0-DB299AAAE237}"/>
                  </a:ext>
                </a:extLst>
              </p:cNvPr>
              <p:cNvSpPr/>
              <p:nvPr/>
            </p:nvSpPr>
            <p:spPr>
              <a:xfrm>
                <a:off x="3685171" y="3702678"/>
                <a:ext cx="2446986" cy="2739410"/>
              </a:xfrm>
              <a:prstGeom prst="roundRect">
                <a:avLst>
                  <a:gd name="adj" fmla="val 7983"/>
                </a:avLst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>
                <a:outerShdw blurRad="292100" dist="50800" dir="5400000" sx="64000" sy="64000" algn="ctr" rotWithShape="0">
                  <a:srgbClr val="000000">
                    <a:alpha val="92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ubik" pitchFamily="2" charset="-79"/>
                  <a:ea typeface="標楷體"/>
                  <a:cs typeface="Rubik" pitchFamily="2" charset="-79"/>
                </a:endParaRPr>
              </a:p>
            </p:txBody>
          </p:sp>
          <p:sp>
            <p:nvSpPr>
              <p:cNvPr id="20" name="文字方塊 43">
                <a:extLst>
                  <a:ext uri="{FF2B5EF4-FFF2-40B4-BE49-F238E27FC236}">
                    <a16:creationId xmlns:a16="http://schemas.microsoft.com/office/drawing/2014/main" id="{CDF0D095-2275-DEF2-D7A9-92C26B0134A8}"/>
                  </a:ext>
                </a:extLst>
              </p:cNvPr>
              <p:cNvSpPr txBox="1"/>
              <p:nvPr/>
            </p:nvSpPr>
            <p:spPr>
              <a:xfrm>
                <a:off x="3634154" y="5442332"/>
                <a:ext cx="2446983" cy="913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91A5"/>
                    </a:solidFill>
                    <a:effectLst/>
                    <a:uLnTx/>
                    <a:uFillTx/>
                    <a:latin typeface="Rubik" pitchFamily="2" charset="-79"/>
                    <a:ea typeface="新細明體" panose="02020500000000000000" pitchFamily="18" charset="-120"/>
                    <a:cs typeface="Rubik" pitchFamily="2" charset="-79"/>
                  </a:rPr>
                  <a:t>Liquid Biopsy</a:t>
                </a:r>
              </a:p>
            </p:txBody>
          </p:sp>
        </p:grp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4C8135E0-E81B-F28B-6452-A15EAEBC04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9114" y="1530130"/>
              <a:ext cx="397888" cy="1057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" name="Picture 5">
              <a:extLst>
                <a:ext uri="{FF2B5EF4-FFF2-40B4-BE49-F238E27FC236}">
                  <a16:creationId xmlns:a16="http://schemas.microsoft.com/office/drawing/2014/main" id="{58DD1A5A-B6CD-89E0-1170-F8B280F1F5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2163" y="1990709"/>
              <a:ext cx="613727" cy="503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1" name="群組 24">
            <a:extLst>
              <a:ext uri="{FF2B5EF4-FFF2-40B4-BE49-F238E27FC236}">
                <a16:creationId xmlns:a16="http://schemas.microsoft.com/office/drawing/2014/main" id="{52EF1455-E708-EF9E-DC93-314D0CC93A5A}"/>
              </a:ext>
            </a:extLst>
          </p:cNvPr>
          <p:cNvGrpSpPr/>
          <p:nvPr/>
        </p:nvGrpSpPr>
        <p:grpSpPr>
          <a:xfrm>
            <a:off x="9730492" y="1309719"/>
            <a:ext cx="1669362" cy="2134739"/>
            <a:chOff x="6264825" y="3702676"/>
            <a:chExt cx="2678731" cy="2837573"/>
          </a:xfrm>
        </p:grpSpPr>
        <p:sp>
          <p:nvSpPr>
            <p:cNvPr id="22" name="矩形: 圓角 25">
              <a:extLst>
                <a:ext uri="{FF2B5EF4-FFF2-40B4-BE49-F238E27FC236}">
                  <a16:creationId xmlns:a16="http://schemas.microsoft.com/office/drawing/2014/main" id="{39EE033A-2F08-C153-4519-59604A15A025}"/>
                </a:ext>
              </a:extLst>
            </p:cNvPr>
            <p:cNvSpPr/>
            <p:nvPr/>
          </p:nvSpPr>
          <p:spPr>
            <a:xfrm>
              <a:off x="6406906" y="3702676"/>
              <a:ext cx="2446987" cy="2837573"/>
            </a:xfrm>
            <a:prstGeom prst="roundRect">
              <a:avLst>
                <a:gd name="adj" fmla="val 7983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95000"/>
                </a:sysClr>
              </a:solidFill>
              <a:prstDash val="solid"/>
              <a:miter lim="800000"/>
            </a:ln>
            <a:effectLst>
              <a:outerShdw blurRad="292100" dist="50800" dir="5400000" sx="64000" sy="64000" algn="ctr" rotWithShape="0">
                <a:srgbClr val="000000">
                  <a:alpha val="9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bik" pitchFamily="2" charset="-79"/>
                <a:ea typeface="標楷體"/>
                <a:cs typeface="Rubik" pitchFamily="2" charset="-79"/>
              </a:endParaRPr>
            </a:p>
          </p:txBody>
        </p:sp>
        <p:sp>
          <p:nvSpPr>
            <p:cNvPr id="23" name="文字方塊 26">
              <a:extLst>
                <a:ext uri="{FF2B5EF4-FFF2-40B4-BE49-F238E27FC236}">
                  <a16:creationId xmlns:a16="http://schemas.microsoft.com/office/drawing/2014/main" id="{284488ED-4DAE-0FEC-0D66-223F3072B020}"/>
                </a:ext>
              </a:extLst>
            </p:cNvPr>
            <p:cNvSpPr txBox="1"/>
            <p:nvPr/>
          </p:nvSpPr>
          <p:spPr>
            <a:xfrm>
              <a:off x="6264825" y="5503795"/>
              <a:ext cx="2678731" cy="9409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2491A5"/>
                  </a:solidFill>
                  <a:effectLst/>
                  <a:uLnTx/>
                  <a:uFillTx/>
                  <a:latin typeface="Rubik" pitchFamily="2" charset="-79"/>
                  <a:ea typeface="新細明體" panose="02020500000000000000" pitchFamily="18" charset="-120"/>
                  <a:cs typeface="Rubik" pitchFamily="2" charset="-79"/>
                </a:rPr>
                <a:t>Animals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2491A5"/>
                  </a:solidFill>
                  <a:effectLst/>
                  <a:uLnTx/>
                  <a:uFillTx/>
                  <a:latin typeface="Rubik" pitchFamily="2" charset="-79"/>
                  <a:ea typeface="新細明體" panose="02020500000000000000" pitchFamily="18" charset="-120"/>
                  <a:cs typeface="Rubik" pitchFamily="2" charset="-79"/>
                </a:rPr>
                <a:t>Food Safety</a:t>
              </a:r>
            </a:p>
          </p:txBody>
        </p:sp>
        <p:pic>
          <p:nvPicPr>
            <p:cNvPr id="24" name="Picture 20">
              <a:extLst>
                <a:ext uri="{FF2B5EF4-FFF2-40B4-BE49-F238E27FC236}">
                  <a16:creationId xmlns:a16="http://schemas.microsoft.com/office/drawing/2014/main" id="{C4D33B1E-AC65-79C1-6BDD-776BB1A953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duotone>
                <a:prstClr val="black"/>
                <a:srgbClr val="2491A5">
                  <a:tint val="45000"/>
                  <a:satMod val="400000"/>
                </a:srgbClr>
              </a:duotone>
              <a:lum bright="-3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8293" y="4032930"/>
              <a:ext cx="1422406" cy="1422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矩形 2">
            <a:extLst>
              <a:ext uri="{FF2B5EF4-FFF2-40B4-BE49-F238E27FC236}">
                <a16:creationId xmlns:a16="http://schemas.microsoft.com/office/drawing/2014/main" id="{E626E10D-DCCE-B056-979C-AC0082EB741E}"/>
              </a:ext>
            </a:extLst>
          </p:cNvPr>
          <p:cNvSpPr/>
          <p:nvPr/>
        </p:nvSpPr>
        <p:spPr>
          <a:xfrm>
            <a:off x="2189126" y="1149222"/>
            <a:ext cx="4792331" cy="5243437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584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E000-455F-7701-FD29-E956B914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1FD506BC-A0E8-82DB-3042-9F89EE000267}"/>
              </a:ext>
            </a:extLst>
          </p:cNvPr>
          <p:cNvSpPr txBox="1">
            <a:spLocks/>
          </p:cNvSpPr>
          <p:nvPr/>
        </p:nvSpPr>
        <p:spPr>
          <a:xfrm>
            <a:off x="366252" y="401244"/>
            <a:ext cx="10518058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800" b="1" i="0" kern="120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+mj-cs"/>
              </a:defRPr>
            </a:lvl1pPr>
          </a:lstStyle>
          <a:p>
            <a:pPr>
              <a:spcBef>
                <a:spcPct val="0"/>
              </a:spcBef>
              <a:spcAft>
                <a:spcPts val="600"/>
              </a:spcAft>
            </a:pPr>
            <a:endParaRPr lang="en-US" altLang="zh-TW" sz="2400" b="1" kern="1200" dirty="0">
              <a:solidFill>
                <a:srgbClr val="478B9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876AB43-6FE7-FCFF-53A4-41EC50A84FF1}"/>
              </a:ext>
            </a:extLst>
          </p:cNvPr>
          <p:cNvSpPr txBox="1"/>
          <p:nvPr/>
        </p:nvSpPr>
        <p:spPr>
          <a:xfrm>
            <a:off x="444873" y="946620"/>
            <a:ext cx="11009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 </a:t>
            </a:r>
            <a:r>
              <a:rPr lang="en-US" altLang="zh-TW" sz="2000" b="1" dirty="0">
                <a:ea typeface="Calibri" panose="020F0502020204030204" pitchFamily="34" charset="0"/>
                <a:cs typeface="Calibri" panose="020F0502020204030204" pitchFamily="34" charset="0"/>
              </a:rPr>
              <a:t>flexible</a:t>
            </a:r>
            <a:r>
              <a:rPr lang="en-US" altLang="zh-TW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validated </a:t>
            </a:r>
            <a:r>
              <a:rPr lang="en-US" altLang="zh-TW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BioChip</a:t>
            </a:r>
            <a:r>
              <a:rPr lang="en-US" altLang="zh-TW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 ready for real-world clinical integration.</a:t>
            </a:r>
          </a:p>
        </p:txBody>
      </p:sp>
      <p:pic>
        <p:nvPicPr>
          <p:cNvPr id="8" name="圖片 7" descr="一張含有 家用電器, 設計, 製冰機 的圖片&#10;&#10;AI 產生的內容可能不正確。">
            <a:extLst>
              <a:ext uri="{FF2B5EF4-FFF2-40B4-BE49-F238E27FC236}">
                <a16:creationId xmlns:a16="http://schemas.microsoft.com/office/drawing/2014/main" id="{7B02DAE2-1ADC-63A6-0C80-C8F4B23F4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8" t="6168" r="14936" b="11208"/>
          <a:stretch>
            <a:fillRect/>
          </a:stretch>
        </p:blipFill>
        <p:spPr>
          <a:xfrm>
            <a:off x="3142740" y="1722837"/>
            <a:ext cx="4689987" cy="4188543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1AF83FDB-3691-B027-16BB-8E636ACF396D}"/>
              </a:ext>
            </a:extLst>
          </p:cNvPr>
          <p:cNvSpPr/>
          <p:nvPr/>
        </p:nvSpPr>
        <p:spPr>
          <a:xfrm>
            <a:off x="1968784" y="1828709"/>
            <a:ext cx="1158182" cy="11581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B2D7CC1-E62A-F095-CC69-3388AA730079}"/>
              </a:ext>
            </a:extLst>
          </p:cNvPr>
          <p:cNvSpPr txBox="1"/>
          <p:nvPr/>
        </p:nvSpPr>
        <p:spPr>
          <a:xfrm>
            <a:off x="1189703" y="3036696"/>
            <a:ext cx="262203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</a:rPr>
              <a:t>Cross-platform verified</a:t>
            </a:r>
            <a:br>
              <a:rPr lang="en-US" altLang="zh-TW" dirty="0"/>
            </a:br>
            <a:r>
              <a:rPr lang="en-US" altLang="zh-TW" sz="1600" dirty="0"/>
              <a:t>(Benchmarking vs SIMOA)</a:t>
            </a:r>
            <a:endParaRPr lang="zh-TW" altLang="en-US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50C3043-3BA6-632B-BF32-C8FBC977C9DF}"/>
              </a:ext>
            </a:extLst>
          </p:cNvPr>
          <p:cNvSpPr/>
          <p:nvPr/>
        </p:nvSpPr>
        <p:spPr>
          <a:xfrm>
            <a:off x="9245604" y="2988621"/>
            <a:ext cx="1158182" cy="11581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080910D-E287-E686-F130-E643BCA9792E}"/>
              </a:ext>
            </a:extLst>
          </p:cNvPr>
          <p:cNvSpPr txBox="1"/>
          <p:nvPr/>
        </p:nvSpPr>
        <p:spPr>
          <a:xfrm>
            <a:off x="8834989" y="4146803"/>
            <a:ext cx="212794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</a:rPr>
              <a:t>Sample-to-Answer</a:t>
            </a:r>
            <a:br>
              <a:rPr lang="en-US" altLang="zh-TW" b="1" dirty="0"/>
            </a:br>
            <a:r>
              <a:rPr lang="en-US" altLang="zh-TW" sz="1600" dirty="0"/>
              <a:t>(same-day result)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B6ADE92-80DC-4C9F-E865-96ADD9862401}"/>
              </a:ext>
            </a:extLst>
          </p:cNvPr>
          <p:cNvSpPr/>
          <p:nvPr/>
        </p:nvSpPr>
        <p:spPr>
          <a:xfrm>
            <a:off x="1744245" y="4603839"/>
            <a:ext cx="1158182" cy="11581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72D657E-D118-40C5-B23E-F99C39DAC0A9}"/>
              </a:ext>
            </a:extLst>
          </p:cNvPr>
          <p:cNvSpPr txBox="1"/>
          <p:nvPr/>
        </p:nvSpPr>
        <p:spPr>
          <a:xfrm>
            <a:off x="1685608" y="5762021"/>
            <a:ext cx="127545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</a:rPr>
              <a:t>Bench-top</a:t>
            </a:r>
            <a:br>
              <a:rPr lang="en-US" altLang="zh-TW" dirty="0">
                <a:solidFill>
                  <a:srgbClr val="0000FF"/>
                </a:solidFill>
              </a:rPr>
            </a:br>
            <a:r>
              <a:rPr lang="en-US" altLang="zh-TW" sz="1600" dirty="0"/>
              <a:t>(~20KG)</a:t>
            </a:r>
            <a:endParaRPr lang="zh-TW" altLang="en-US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046A7FD-9824-D48A-3243-D482F154C1C2}"/>
              </a:ext>
            </a:extLst>
          </p:cNvPr>
          <p:cNvSpPr/>
          <p:nvPr/>
        </p:nvSpPr>
        <p:spPr>
          <a:xfrm>
            <a:off x="8731077" y="4954167"/>
            <a:ext cx="1158182" cy="11581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623B8D-4BF6-0EAB-5C4E-5A3344B3E8B0}"/>
              </a:ext>
            </a:extLst>
          </p:cNvPr>
          <p:cNvSpPr txBox="1"/>
          <p:nvPr/>
        </p:nvSpPr>
        <p:spPr>
          <a:xfrm>
            <a:off x="8311948" y="6112349"/>
            <a:ext cx="2194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Resource-efficient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21B0222-5489-3D31-9606-EB874EB377D5}"/>
              </a:ext>
            </a:extLst>
          </p:cNvPr>
          <p:cNvSpPr txBox="1"/>
          <p:nvPr/>
        </p:nvSpPr>
        <p:spPr>
          <a:xfrm>
            <a:off x="7798852" y="2547681"/>
            <a:ext cx="1446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</a:rPr>
              <a:t>Operational</a:t>
            </a:r>
          </a:p>
          <a:p>
            <a:pPr algn="ctr"/>
            <a:r>
              <a:rPr lang="en-US" altLang="zh-TW" b="1" dirty="0">
                <a:solidFill>
                  <a:srgbClr val="0000FF"/>
                </a:solidFill>
              </a:rPr>
              <a:t>flexibility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pic>
        <p:nvPicPr>
          <p:cNvPr id="22" name="圖片 21" descr="一張含有 符號, 字型, 圖形, 圓形 的圖片&#10;&#10;AI 產生的內容可能不正確。">
            <a:extLst>
              <a:ext uri="{FF2B5EF4-FFF2-40B4-BE49-F238E27FC236}">
                <a16:creationId xmlns:a16="http://schemas.microsoft.com/office/drawing/2014/main" id="{4E63C38D-CDEE-7654-6BE1-7301A5ADB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686" y="1918192"/>
            <a:ext cx="826378" cy="891963"/>
          </a:xfrm>
          <a:prstGeom prst="rect">
            <a:avLst/>
          </a:prstGeom>
        </p:spPr>
      </p:pic>
      <p:pic>
        <p:nvPicPr>
          <p:cNvPr id="24" name="圖片 23" descr="一張含有 文字, 符號, 字型, 標誌 的圖片&#10;&#10;AI 產生的內容可能不正確。">
            <a:extLst>
              <a:ext uri="{FF2B5EF4-FFF2-40B4-BE49-F238E27FC236}">
                <a16:creationId xmlns:a16="http://schemas.microsoft.com/office/drawing/2014/main" id="{6CB785FF-659F-1BB8-81A1-423EAFB76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204" y="3187340"/>
            <a:ext cx="889506" cy="800555"/>
          </a:xfrm>
          <a:prstGeom prst="rect">
            <a:avLst/>
          </a:prstGeom>
        </p:spPr>
      </p:pic>
      <p:pic>
        <p:nvPicPr>
          <p:cNvPr id="26" name="圖片 25" descr="一張含有 符號, 寫生, 圖表, 行 的圖片&#10;&#10;AI 產生的內容可能不正確。">
            <a:extLst>
              <a:ext uri="{FF2B5EF4-FFF2-40B4-BE49-F238E27FC236}">
                <a16:creationId xmlns:a16="http://schemas.microsoft.com/office/drawing/2014/main" id="{B01A301B-A3FA-CAE9-1DAA-632042DE0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9771" y="4703449"/>
            <a:ext cx="767130" cy="875530"/>
          </a:xfrm>
          <a:prstGeom prst="rect">
            <a:avLst/>
          </a:prstGeom>
        </p:spPr>
      </p:pic>
      <p:pic>
        <p:nvPicPr>
          <p:cNvPr id="28" name="圖片 27" descr="一張含有 圓形, 字型, 標誌, 圖形 的圖片&#10;&#10;AI 產生的內容可能不正確。">
            <a:extLst>
              <a:ext uri="{FF2B5EF4-FFF2-40B4-BE49-F238E27FC236}">
                <a16:creationId xmlns:a16="http://schemas.microsoft.com/office/drawing/2014/main" id="{1DC555F2-B9DD-17F8-9153-CDBFCD16CBC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912" t="9999" r="24182" b="20800"/>
          <a:stretch>
            <a:fillRect/>
          </a:stretch>
        </p:blipFill>
        <p:spPr>
          <a:xfrm>
            <a:off x="7849909" y="1390557"/>
            <a:ext cx="1169949" cy="1158182"/>
          </a:xfrm>
          <a:prstGeom prst="rect">
            <a:avLst/>
          </a:prstGeom>
        </p:spPr>
      </p:pic>
      <p:pic>
        <p:nvPicPr>
          <p:cNvPr id="30" name="圖片 29" descr="一張含有 美工圖案, 圖形, 標誌, 設計 的圖片&#10;&#10;AI 產生的內容可能不正確。">
            <a:extLst>
              <a:ext uri="{FF2B5EF4-FFF2-40B4-BE49-F238E27FC236}">
                <a16:creationId xmlns:a16="http://schemas.microsoft.com/office/drawing/2014/main" id="{041CA880-E60E-17D9-C9EB-C8D33E0D3C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834989" y="5068637"/>
            <a:ext cx="950357" cy="864531"/>
          </a:xfrm>
          <a:prstGeom prst="rect">
            <a:avLst/>
          </a:prstGeom>
        </p:spPr>
      </p:pic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1BB1330-1972-A497-BF0D-075DDC3E5FE6}"/>
              </a:ext>
            </a:extLst>
          </p:cNvPr>
          <p:cNvCxnSpPr>
            <a:cxnSpLocks/>
          </p:cNvCxnSpPr>
          <p:nvPr/>
        </p:nvCxnSpPr>
        <p:spPr>
          <a:xfrm>
            <a:off x="3100616" y="2573145"/>
            <a:ext cx="1028856" cy="184666"/>
          </a:xfrm>
          <a:prstGeom prst="line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82931E6-DE43-47D1-2BC0-903865EFD02F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902427" y="5182930"/>
            <a:ext cx="1143701" cy="0"/>
          </a:xfrm>
          <a:prstGeom prst="line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DD3B9879-E9B2-F6BA-DEDA-EAA9F9335954}"/>
              </a:ext>
            </a:extLst>
          </p:cNvPr>
          <p:cNvCxnSpPr>
            <a:cxnSpLocks/>
          </p:cNvCxnSpPr>
          <p:nvPr/>
        </p:nvCxnSpPr>
        <p:spPr>
          <a:xfrm flipH="1">
            <a:off x="6960295" y="3736258"/>
            <a:ext cx="2285309" cy="715755"/>
          </a:xfrm>
          <a:prstGeom prst="line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008CCA6-D3A1-52BB-2CBE-F2AE664DF6C9}"/>
              </a:ext>
            </a:extLst>
          </p:cNvPr>
          <p:cNvCxnSpPr>
            <a:cxnSpLocks/>
          </p:cNvCxnSpPr>
          <p:nvPr/>
        </p:nvCxnSpPr>
        <p:spPr>
          <a:xfrm flipV="1">
            <a:off x="6906451" y="2172929"/>
            <a:ext cx="1018349" cy="372536"/>
          </a:xfrm>
          <a:prstGeom prst="line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CA08BEE2-C4F2-47C3-4FA0-72086EB82DF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7342572" y="5407783"/>
            <a:ext cx="1388505" cy="125475"/>
          </a:xfrm>
          <a:prstGeom prst="line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標題 1">
            <a:extLst>
              <a:ext uri="{FF2B5EF4-FFF2-40B4-BE49-F238E27FC236}">
                <a16:creationId xmlns:a16="http://schemas.microsoft.com/office/drawing/2014/main" id="{CE2DFAD3-623C-6C09-654C-6E18F96FE055}"/>
              </a:ext>
            </a:extLst>
          </p:cNvPr>
          <p:cNvSpPr txBox="1">
            <a:spLocks/>
          </p:cNvSpPr>
          <p:nvPr/>
        </p:nvSpPr>
        <p:spPr>
          <a:xfrm>
            <a:off x="444874" y="429775"/>
            <a:ext cx="10518058" cy="60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800" b="1" i="0" kern="120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+mj-cs"/>
              </a:defRPr>
            </a:lvl1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zh-TW" b="1" kern="1200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Novascope </a:t>
            </a:r>
            <a:r>
              <a:rPr lang="en-US" altLang="zh-TW" b="1" kern="1200" dirty="0" err="1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NVDFlow</a:t>
            </a:r>
            <a:r>
              <a:rPr lang="en-US" altLang="zh-TW" b="1" kern="1200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™ Automated </a:t>
            </a:r>
            <a:r>
              <a:rPr lang="en-US" altLang="zh-TW" b="1" kern="1200" dirty="0" err="1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BioChip</a:t>
            </a:r>
            <a:r>
              <a:rPr lang="en-US" altLang="zh-TW" b="1" kern="1200" dirty="0">
                <a:solidFill>
                  <a:srgbClr val="478B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Platform System</a:t>
            </a:r>
          </a:p>
        </p:txBody>
      </p:sp>
    </p:spTree>
    <p:extLst>
      <p:ext uri="{BB962C8B-B14F-4D97-AF65-F5344CB8AC3E}">
        <p14:creationId xmlns:p14="http://schemas.microsoft.com/office/powerpoint/2010/main" val="24709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FE2B86-8203-38C2-FAF8-C9370243CF06}"/>
              </a:ext>
            </a:extLst>
          </p:cNvPr>
          <p:cNvSpPr txBox="1"/>
          <p:nvPr/>
        </p:nvSpPr>
        <p:spPr>
          <a:xfrm>
            <a:off x="2423160" y="768096"/>
            <a:ext cx="820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Please insert my pic and change my job title to “Finance &amp; IR Director”</a:t>
            </a:r>
            <a:endParaRPr lang="zh-TW" altLang="en-US" dirty="0"/>
          </a:p>
        </p:txBody>
      </p:sp>
      <p:pic>
        <p:nvPicPr>
          <p:cNvPr id="3" name="Picture 2" descr="Emily Liu, CFA, CAIA">
            <a:extLst>
              <a:ext uri="{FF2B5EF4-FFF2-40B4-BE49-F238E27FC236}">
                <a16:creationId xmlns:a16="http://schemas.microsoft.com/office/drawing/2014/main" id="{1F203967-7582-00C2-D004-4872E5CA1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201" y="2581232"/>
            <a:ext cx="1828800" cy="1828800"/>
          </a:xfrm>
          <a:prstGeom prst="ellipse">
            <a:avLst/>
          </a:prstGeom>
          <a:ln w="190500" cap="rnd">
            <a:noFill/>
            <a:prstDash val="solid"/>
          </a:ln>
          <a:effectLst>
            <a:outerShdw sx="1000" sy="1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206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274</Words>
  <Application>Microsoft Office PowerPoint</Application>
  <PresentationFormat>Widescreen</PresentationFormat>
  <Paragraphs>100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Rubik</vt:lpstr>
      <vt:lpstr>Microsoft JhengHei</vt:lpstr>
      <vt:lpstr>Microsoft JhengHei</vt:lpstr>
      <vt:lpstr>微軟正黑體 Light</vt:lpstr>
      <vt:lpstr>標楷體</vt:lpstr>
      <vt:lpstr>Aptos</vt:lpstr>
      <vt:lpstr>Aptos Display</vt:lpstr>
      <vt:lpstr>Arial</vt:lpstr>
      <vt:lpstr>Calibri</vt:lpstr>
      <vt:lpstr>Times New Roman</vt:lpstr>
      <vt:lpstr>Office Theme</vt:lpstr>
      <vt:lpstr>NOVASCOPE End-To-End Solutions: Where Biochemistry Meets Semiconductors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Liu, CFA CAIA</dc:creator>
  <cp:lastModifiedBy>Emily Liu, CFA CAIA</cp:lastModifiedBy>
  <cp:revision>1</cp:revision>
  <dcterms:created xsi:type="dcterms:W3CDTF">2026-02-22T06:11:53Z</dcterms:created>
  <dcterms:modified xsi:type="dcterms:W3CDTF">2026-02-22T06:30:41Z</dcterms:modified>
</cp:coreProperties>
</file>